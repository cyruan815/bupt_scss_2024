
<file path=[Content_Types].xml><?xml version="1.0" encoding="utf-8"?>
<Types xmlns="http://schemas.openxmlformats.org/package/2006/content-types">
  <Default Extension="bin" ContentType="application/vnd.ms-office.activeX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activeX/activeX1.xml" ContentType="application/vnd.ms-office.activeX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tags/tag1.xml" ContentType="application/vnd.openxmlformats-officedocument.presentationml.tags+xml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embeddings/oleObject19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0.bin" ContentType="application/vnd.openxmlformats-officedocument.oleObject"/>
  <Override PartName="/ppt/notesSlides/notesSlide4.xml" ContentType="application/vnd.openxmlformats-officedocument.presentationml.notesSlide+xml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notesSlides/notesSlide5.xml" ContentType="application/vnd.openxmlformats-officedocument.presentationml.notesSlide+xml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0.bin" ContentType="application/vnd.openxmlformats-officedocument.oleObject"/>
  <Override PartName="/ppt/embeddings/oleObject41.bin" ContentType="application/vnd.openxmlformats-officedocument.oleObject"/>
  <Override PartName="/ppt/embeddings/oleObject42.bin" ContentType="application/vnd.openxmlformats-officedocument.oleObject"/>
  <Override PartName="/ppt/embeddings/oleObject43.bin" ContentType="application/vnd.openxmlformats-officedocument.oleObject"/>
  <Override PartName="/ppt/embeddings/oleObject44.bin" ContentType="application/vnd.openxmlformats-officedocument.oleObject"/>
  <Override PartName="/ppt/embeddings/oleObject45.bin" ContentType="application/vnd.openxmlformats-officedocument.oleObject"/>
  <Override PartName="/ppt/embeddings/oleObject46.bin" ContentType="application/vnd.openxmlformats-officedocument.oleObject"/>
  <Override PartName="/ppt/embeddings/oleObject47.bin" ContentType="application/vnd.openxmlformats-officedocument.oleObject"/>
  <Override PartName="/ppt/embeddings/oleObject48.bin" ContentType="application/vnd.openxmlformats-officedocument.oleObject"/>
  <Override PartName="/ppt/embeddings/oleObject49.bin" ContentType="application/vnd.openxmlformats-officedocument.oleObject"/>
  <Override PartName="/ppt/embeddings/oleObject50.bin" ContentType="application/vnd.openxmlformats-officedocument.oleObject"/>
  <Override PartName="/ppt/embeddings/oleObject51.bin" ContentType="application/vnd.openxmlformats-officedocument.oleObject"/>
  <Override PartName="/ppt/embeddings/oleObject52.bin" ContentType="application/vnd.openxmlformats-officedocument.oleObject"/>
  <Override PartName="/ppt/embeddings/oleObject53.bin" ContentType="application/vnd.openxmlformats-officedocument.oleObject"/>
  <Override PartName="/ppt/embeddings/oleObject54.bin" ContentType="application/vnd.openxmlformats-officedocument.oleObject"/>
  <Override PartName="/ppt/embeddings/oleObject55.bin" ContentType="application/vnd.openxmlformats-officedocument.oleObject"/>
  <Override PartName="/ppt/embeddings/oleObject56.bin" ContentType="application/vnd.openxmlformats-officedocument.oleObject"/>
  <Override PartName="/ppt/embeddings/oleObject57.bin" ContentType="application/vnd.openxmlformats-officedocument.oleObject"/>
  <Override PartName="/ppt/embeddings/oleObject58.bin" ContentType="application/vnd.openxmlformats-officedocument.oleObject"/>
  <Override PartName="/ppt/embeddings/oleObject59.bin" ContentType="application/vnd.openxmlformats-officedocument.oleObject"/>
  <Override PartName="/ppt/embeddings/oleObject60.bin" ContentType="application/vnd.openxmlformats-officedocument.oleObject"/>
  <Override PartName="/ppt/embeddings/oleObject61.bin" ContentType="application/vnd.openxmlformats-officedocument.oleObject"/>
  <Override PartName="/ppt/embeddings/oleObject62.bin" ContentType="application/vnd.openxmlformats-officedocument.oleObject"/>
  <Override PartName="/ppt/embeddings/oleObject63.bin" ContentType="application/vnd.openxmlformats-officedocument.oleObject"/>
  <Override PartName="/ppt/embeddings/oleObject64.bin" ContentType="application/vnd.openxmlformats-officedocument.oleObject"/>
  <Override PartName="/ppt/embeddings/oleObject65.bin" ContentType="application/vnd.openxmlformats-officedocument.oleObject"/>
  <Override PartName="/ppt/embeddings/oleObject66.bin" ContentType="application/vnd.openxmlformats-officedocument.oleObject"/>
  <Override PartName="/ppt/notesSlides/notesSlide6.xml" ContentType="application/vnd.openxmlformats-officedocument.presentationml.notesSlide+xml"/>
  <Override PartName="/ppt/embeddings/oleObject67.bin" ContentType="application/vnd.openxmlformats-officedocument.oleObject"/>
  <Override PartName="/ppt/embeddings/oleObject68.bin" ContentType="application/vnd.openxmlformats-officedocument.oleObject"/>
  <Override PartName="/ppt/embeddings/oleObject69.bin" ContentType="application/vnd.openxmlformats-officedocument.oleObject"/>
  <Override PartName="/ppt/embeddings/oleObject70.bin" ContentType="application/vnd.openxmlformats-officedocument.oleObject"/>
  <Override PartName="/ppt/embeddings/oleObject71.bin" ContentType="application/vnd.openxmlformats-officedocument.oleObject"/>
  <Override PartName="/ppt/embeddings/oleObject72.bin" ContentType="application/vnd.openxmlformats-officedocument.oleObject"/>
  <Override PartName="/ppt/embeddings/oleObject73.bin" ContentType="application/vnd.openxmlformats-officedocument.oleObject"/>
  <Override PartName="/ppt/embeddings/oleObject74.bin" ContentType="application/vnd.openxmlformats-officedocument.oleObject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embeddings/oleObject75.bin" ContentType="application/vnd.openxmlformats-officedocument.oleObject"/>
  <Override PartName="/ppt/embeddings/oleObject76.bin" ContentType="application/vnd.openxmlformats-officedocument.oleObject"/>
  <Override PartName="/ppt/embeddings/oleObject77.bin" ContentType="application/vnd.openxmlformats-officedocument.oleObject"/>
  <Override PartName="/ppt/embeddings/oleObject78.bin" ContentType="application/vnd.openxmlformats-officedocument.oleObject"/>
  <Override PartName="/ppt/embeddings/oleObject79.bin" ContentType="application/vnd.openxmlformats-officedocument.oleObject"/>
  <Override PartName="/ppt/embeddings/oleObject80.bin" ContentType="application/vnd.openxmlformats-officedocument.oleObject"/>
  <Override PartName="/ppt/embeddings/oleObject81.bin" ContentType="application/vnd.openxmlformats-officedocument.oleObject"/>
  <Override PartName="/ppt/embeddings/oleObject82.bin" ContentType="application/vnd.openxmlformats-officedocument.oleObject"/>
  <Override PartName="/ppt/embeddings/oleObject83.bin" ContentType="application/vnd.openxmlformats-officedocument.oleObject"/>
  <Override PartName="/ppt/embeddings/oleObject84.bin" ContentType="application/vnd.openxmlformats-officedocument.oleObject"/>
  <Override PartName="/ppt/embeddings/oleObject85.bin" ContentType="application/vnd.openxmlformats-officedocument.oleObject"/>
  <Override PartName="/ppt/embeddings/oleObject86.bin" ContentType="application/vnd.openxmlformats-officedocument.oleObject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embeddings/oleObject87.bin" ContentType="application/vnd.openxmlformats-officedocument.oleObject"/>
  <Override PartName="/ppt/embeddings/oleObject88.bin" ContentType="application/vnd.openxmlformats-officedocument.oleObject"/>
  <Override PartName="/ppt/embeddings/oleObject89.bin" ContentType="application/vnd.openxmlformats-officedocument.oleObject"/>
  <Override PartName="/ppt/embeddings/oleObject90.bin" ContentType="application/vnd.openxmlformats-officedocument.oleObject"/>
  <Override PartName="/ppt/embeddings/oleObject91.bin" ContentType="application/vnd.openxmlformats-officedocument.oleObject"/>
  <Override PartName="/ppt/embeddings/oleObject92.bin" ContentType="application/vnd.openxmlformats-officedocument.oleObject"/>
  <Override PartName="/ppt/embeddings/oleObject93.bin" ContentType="application/vnd.openxmlformats-officedocument.oleObject"/>
  <Override PartName="/ppt/embeddings/oleObject94.bin" ContentType="application/vnd.openxmlformats-officedocument.oleObject"/>
  <Override PartName="/ppt/embeddings/oleObject95.bin" ContentType="application/vnd.openxmlformats-officedocument.oleObject"/>
  <Override PartName="/ppt/embeddings/oleObject96.bin" ContentType="application/vnd.openxmlformats-officedocument.oleObject"/>
  <Override PartName="/ppt/embeddings/oleObject97.bin" ContentType="application/vnd.openxmlformats-officedocument.oleObject"/>
  <Override PartName="/ppt/embeddings/oleObject98.bin" ContentType="application/vnd.openxmlformats-officedocument.oleObject"/>
  <Override PartName="/ppt/embeddings/oleObject99.bin" ContentType="application/vnd.openxmlformats-officedocument.oleObject"/>
  <Override PartName="/ppt/embeddings/oleObject100.bin" ContentType="application/vnd.openxmlformats-officedocument.oleObject"/>
  <Override PartName="/ppt/embeddings/oleObject101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51" r:id="rId2"/>
    <p:sldId id="258" r:id="rId3"/>
    <p:sldId id="259" r:id="rId4"/>
    <p:sldId id="260" r:id="rId5"/>
    <p:sldId id="261" r:id="rId6"/>
    <p:sldId id="262" r:id="rId7"/>
    <p:sldId id="263" r:id="rId8"/>
    <p:sldId id="334" r:id="rId9"/>
    <p:sldId id="265" r:id="rId10"/>
    <p:sldId id="266" r:id="rId11"/>
    <p:sldId id="267" r:id="rId12"/>
    <p:sldId id="336" r:id="rId13"/>
    <p:sldId id="269" r:id="rId14"/>
    <p:sldId id="270" r:id="rId15"/>
    <p:sldId id="340" r:id="rId16"/>
    <p:sldId id="271" r:id="rId17"/>
    <p:sldId id="272" r:id="rId18"/>
    <p:sldId id="273" r:id="rId19"/>
    <p:sldId id="274" r:id="rId20"/>
    <p:sldId id="296" r:id="rId21"/>
    <p:sldId id="338" r:id="rId22"/>
    <p:sldId id="297" r:id="rId23"/>
    <p:sldId id="339" r:id="rId24"/>
    <p:sldId id="298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DD4"/>
    <a:srgbClr val="CCFFCC"/>
    <a:srgbClr val="FFCC99"/>
    <a:srgbClr val="FFCC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4692" autoAdjust="0"/>
  </p:normalViewPr>
  <p:slideViewPr>
    <p:cSldViewPr>
      <p:cViewPr varScale="1">
        <p:scale>
          <a:sx n="81" d="100"/>
          <a:sy n="81" d="100"/>
        </p:scale>
        <p:origin x="40" y="3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DA9C23E-2112-4AF0-B303-C7D7A93CAF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AB5F843-B645-4456-A8C3-D9453F50BC3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D631743-2155-43C1-99B2-C4007B8343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C8E8136-3811-42AF-B46F-E66B1872B9E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D2E6DFB-8BA5-4413-9B02-2D60CD29E4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1F5850C-BB74-47AD-AA7E-18AEDF27E0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A1685B-BD2E-4FE8-873A-B63AECEABD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>
            <a:extLst>
              <a:ext uri="{FF2B5EF4-FFF2-40B4-BE49-F238E27FC236}">
                <a16:creationId xmlns:a16="http://schemas.microsoft.com/office/drawing/2014/main" id="{B0D6B2D3-1CF0-47EE-A21F-077CD71280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备注占位符 2">
            <a:extLst>
              <a:ext uri="{FF2B5EF4-FFF2-40B4-BE49-F238E27FC236}">
                <a16:creationId xmlns:a16="http://schemas.microsoft.com/office/drawing/2014/main" id="{C853ABA3-AA46-4918-8983-D71F88D29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00" name="灯片编号占位符 3">
            <a:extLst>
              <a:ext uri="{FF2B5EF4-FFF2-40B4-BE49-F238E27FC236}">
                <a16:creationId xmlns:a16="http://schemas.microsoft.com/office/drawing/2014/main" id="{357EBC0D-9A2F-4505-A610-60F3B6D41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BBF254-760A-4CC2-9A84-E1DD99F59ADC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1</a:t>
            </a:fld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3B19AD1-22AE-460A-9A87-583998829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61D3F3-A87D-4A58-82E2-86E88777E15A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D7FD592-3DAE-4095-A4EB-A7B9B17B9D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7D16E28-A36D-4232-9F4C-F88F5CFBB8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79F50A38-CA49-4D8E-8350-23EC98D6E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18AEEB-FD07-4885-BCE1-25E4E20C2447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EE2CFA57-3008-47D6-BD62-5C9E80C8F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19A94D7-2C47-4622-AA3E-BD5EC1A71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AC4DC59-8020-4D77-B09B-F5BEB15F3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4906CB-486D-4433-A926-050123CC4A69}" type="slidenum">
              <a:rPr lang="en-US" altLang="zh-CN" smtClean="0"/>
              <a:pPr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976201C-DE1B-400B-A350-08F1C7975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A68C4E2-9A29-4289-BBF5-E385A54CB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40C1C126-9B0B-4952-8738-8EE8285255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0679E19-C6F2-4F3B-9EFB-6827F23CC909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0FF1DC5B-EF72-4220-81FE-2D2A07AD23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237BDBC2-39B2-4935-A6BB-8B48CB6A6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7821D5B4-858F-40C0-A9EA-7B4C69AAFF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A8275EDF-BDC8-4221-92B1-E263F28A3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E117C22E-0E7E-40D6-8C7E-5C142E801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72BDDF-9896-4EFB-B199-ECAB9CEA9C81}" type="slidenum">
              <a:rPr lang="en-US" altLang="zh-CN" smtClean="0"/>
              <a:pPr>
                <a:spcBef>
                  <a:spcPct val="0"/>
                </a:spcBef>
              </a:pPr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EFDEB6-8D53-4281-8A52-CCDA80607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D06FF1-F935-43C0-A006-EFCDD55B18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835303-623C-4FE3-8BD5-8D7BC532C3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612F3-1FFF-4DB9-874A-A6952F6DD4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832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06EB79-2FC4-4978-831F-0700FC4B5C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E61753-6DF0-46DC-8736-E7A886919B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3A316-5DE3-4255-938F-A1155D172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9E512-8BE0-41E0-A6B6-82AD08ECC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0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703E39-EA3A-4770-B738-00A40309E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3C5DE2-6D10-4A1F-A5A0-C7D8F54F9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46DC4B-0BB2-423A-B139-6308A2F087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C50FF-CEEB-4EB3-A6E7-B7A9961320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622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536F2-E2B7-4B1B-B636-BED8DD1BC0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3F5721-D774-4207-911D-F41BE724A0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EE8A7-3E86-421E-82FF-8F8642C842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62734-CDFB-4E82-9E1D-5EA3465A05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761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77B772-78A5-42A7-8274-0CAACB703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B02C795-A999-41F2-8111-5DB0B0EFC4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6F1137C-1528-4D4B-8C57-30FDC9B226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37FA9-0B96-40D0-B9BB-859709149C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9887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6916EF4-4B94-4D27-B371-2E8840BB6A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9CF24C2-1BEB-41E8-A97C-48A99838CF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A02B5DD-53C1-44F4-8A35-C1EE0137E2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513C5A-1296-44E9-A606-FFFD0D968C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17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C8EDF63-793D-4EFD-B949-C6DCE1CA95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BCB3FF5-E412-4463-95D4-D2964C0685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C7D84F-0144-4F7B-87B9-3653C5C871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ED44C-A3BC-48A8-8E84-288304F57E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467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57B64B-1B8A-4C63-8A88-65418A1FA7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5B936-69C7-41D8-B018-4E8F5FAC40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AC434F-C983-4324-AD0A-2308DCE20B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8F53E-1F63-4D9D-9F53-0E98B97C94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617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229FF-942A-4273-B745-14476CA42B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656FB2-9BE1-4153-8974-29090D897F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81E874-E194-4B85-B93B-D195244DFF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EB2D6-D35A-4B0F-B628-F02026C2B2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558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D033FA-0E80-45E7-9CFE-96C1EF5D34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45EC0E-DF6C-48C6-85A3-A3F9F82EBF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E6B84A-31B4-4AC8-B501-E763D05CE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C27FB5-0EFB-4835-8C44-489257054D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8763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D057A6-5E48-4D34-931A-EB8E788B02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5387DF-7335-414F-A8AF-D56930176C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49CED56-45E9-4F4E-B6EE-00B8A6981F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6A22B-73A8-4EFB-91FA-37E78268FD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2611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087AAF-758D-44AB-A620-B6416B0389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C9EAAE-3064-4A3E-BD66-1F586DA3BD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07913D-C585-49BC-9F66-F44063F430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D6A61-E901-45E0-8059-86C0F6C813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84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DCC0E1-D157-427F-93FE-4FE6ACC97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69BCE9-9F70-4646-BBE1-455BD77323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F057DA-0740-47EB-B171-17F4DB511C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599D22E-D0CC-4C74-8CF3-E867A83C12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D7082CC-B043-44D7-8CEC-5C03FE104B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12A6AAC-3693-47AA-98F6-95F5FAAA00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control" Target="../activeX/activeX1.xml"/><Relationship Id="rId6" Type="http://schemas.openxmlformats.org/officeDocument/2006/relationships/image" Target="../media/image2.png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e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0.e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emf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1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emf"/><Relationship Id="rId14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12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3.emf"/><Relationship Id="rId10" Type="http://schemas.openxmlformats.org/officeDocument/2006/relationships/image" Target="../media/image16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9.emf"/><Relationship Id="rId26" Type="http://schemas.openxmlformats.org/officeDocument/2006/relationships/image" Target="../media/image34.e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7.bin"/><Relationship Id="rId34" Type="http://schemas.openxmlformats.org/officeDocument/2006/relationships/image" Target="../media/image40.emf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5.emf"/><Relationship Id="rId17" Type="http://schemas.openxmlformats.org/officeDocument/2006/relationships/oleObject" Target="../embeddings/oleObject25.bin"/><Relationship Id="rId25" Type="http://schemas.openxmlformats.org/officeDocument/2006/relationships/image" Target="../media/image33.emf"/><Relationship Id="rId33" Type="http://schemas.openxmlformats.org/officeDocument/2006/relationships/image" Target="../media/image39.e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emf"/><Relationship Id="rId20" Type="http://schemas.openxmlformats.org/officeDocument/2006/relationships/image" Target="../media/image30.emf"/><Relationship Id="rId29" Type="http://schemas.openxmlformats.org/officeDocument/2006/relationships/image" Target="../media/image3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11" Type="http://schemas.openxmlformats.org/officeDocument/2006/relationships/oleObject" Target="../embeddings/oleObject23.bin"/><Relationship Id="rId24" Type="http://schemas.openxmlformats.org/officeDocument/2006/relationships/oleObject" Target="../embeddings/oleObject28.bin"/><Relationship Id="rId32" Type="http://schemas.openxmlformats.org/officeDocument/2006/relationships/oleObject" Target="../embeddings/oleObject30.bin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27.emf"/><Relationship Id="rId23" Type="http://schemas.openxmlformats.org/officeDocument/2006/relationships/image" Target="../media/image32.emf"/><Relationship Id="rId28" Type="http://schemas.openxmlformats.org/officeDocument/2006/relationships/image" Target="../media/image36.emf"/><Relationship Id="rId10" Type="http://schemas.openxmlformats.org/officeDocument/2006/relationships/image" Target="../media/image24.emf"/><Relationship Id="rId19" Type="http://schemas.openxmlformats.org/officeDocument/2006/relationships/oleObject" Target="../embeddings/oleObject26.bin"/><Relationship Id="rId31" Type="http://schemas.openxmlformats.org/officeDocument/2006/relationships/image" Target="../media/image38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6.emf"/><Relationship Id="rId22" Type="http://schemas.openxmlformats.org/officeDocument/2006/relationships/image" Target="../media/image31.emf"/><Relationship Id="rId27" Type="http://schemas.openxmlformats.org/officeDocument/2006/relationships/image" Target="../media/image35.emf"/><Relationship Id="rId30" Type="http://schemas.openxmlformats.org/officeDocument/2006/relationships/oleObject" Target="../embeddings/oleObject29.bin"/><Relationship Id="rId8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6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44.emf"/><Relationship Id="rId4" Type="http://schemas.openxmlformats.org/officeDocument/2006/relationships/image" Target="../media/image41.emf"/><Relationship Id="rId9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4.emf"/><Relationship Id="rId3" Type="http://schemas.openxmlformats.org/officeDocument/2006/relationships/image" Target="../media/image47.emf"/><Relationship Id="rId7" Type="http://schemas.openxmlformats.org/officeDocument/2006/relationships/image" Target="../media/image50.emf"/><Relationship Id="rId12" Type="http://schemas.openxmlformats.org/officeDocument/2006/relationships/image" Target="../media/image53.e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30.bin"/><Relationship Id="rId5" Type="http://schemas.openxmlformats.org/officeDocument/2006/relationships/image" Target="../media/image48.emf"/><Relationship Id="rId10" Type="http://schemas.openxmlformats.org/officeDocument/2006/relationships/image" Target="../media/image52.emf"/><Relationship Id="rId4" Type="http://schemas.openxmlformats.org/officeDocument/2006/relationships/oleObject" Target="../embeddings/oleObject24.bin"/><Relationship Id="rId9" Type="http://schemas.openxmlformats.org/officeDocument/2006/relationships/oleObject" Target="../embeddings/oleObject29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60.emf"/><Relationship Id="rId18" Type="http://schemas.openxmlformats.org/officeDocument/2006/relationships/oleObject" Target="../embeddings/oleObject44.bin"/><Relationship Id="rId3" Type="http://schemas.openxmlformats.org/officeDocument/2006/relationships/image" Target="../media/image55.emf"/><Relationship Id="rId21" Type="http://schemas.openxmlformats.org/officeDocument/2006/relationships/image" Target="../media/image64.emf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62.e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23" Type="http://schemas.openxmlformats.org/officeDocument/2006/relationships/image" Target="../media/image65.e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63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71.e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3" Type="http://schemas.openxmlformats.org/officeDocument/2006/relationships/image" Target="../media/image66.emf"/><Relationship Id="rId21" Type="http://schemas.openxmlformats.org/officeDocument/2006/relationships/image" Target="../media/image75.emf"/><Relationship Id="rId7" Type="http://schemas.openxmlformats.org/officeDocument/2006/relationships/image" Target="../media/image68.e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73.emf"/><Relationship Id="rId25" Type="http://schemas.openxmlformats.org/officeDocument/2006/relationships/image" Target="../media/image77.e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70.e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67.emf"/><Relationship Id="rId15" Type="http://schemas.openxmlformats.org/officeDocument/2006/relationships/image" Target="../media/image72.emf"/><Relationship Id="rId23" Type="http://schemas.openxmlformats.org/officeDocument/2006/relationships/image" Target="../media/image76.e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74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69.e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78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84.emf"/><Relationship Id="rId3" Type="http://schemas.openxmlformats.org/officeDocument/2006/relationships/image" Target="../media/image79.emf"/><Relationship Id="rId7" Type="http://schemas.openxmlformats.org/officeDocument/2006/relationships/image" Target="../media/image81.emf"/><Relationship Id="rId12" Type="http://schemas.openxmlformats.org/officeDocument/2006/relationships/oleObject" Target="../embeddings/oleObject65.bin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83.emf"/><Relationship Id="rId5" Type="http://schemas.openxmlformats.org/officeDocument/2006/relationships/image" Target="../media/image80.emf"/><Relationship Id="rId15" Type="http://schemas.openxmlformats.org/officeDocument/2006/relationships/image" Target="../media/image85.e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82.emf"/><Relationship Id="rId14" Type="http://schemas.openxmlformats.org/officeDocument/2006/relationships/oleObject" Target="../embeddings/oleObject6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93.e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90.emf"/><Relationship Id="rId17" Type="http://schemas.openxmlformats.org/officeDocument/2006/relationships/oleObject" Target="../embeddings/oleObject74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89.emf"/><Relationship Id="rId4" Type="http://schemas.openxmlformats.org/officeDocument/2006/relationships/image" Target="../media/image86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9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13" Type="http://schemas.openxmlformats.org/officeDocument/2006/relationships/oleObject" Target="../embeddings/oleObject78.bin"/><Relationship Id="rId3" Type="http://schemas.openxmlformats.org/officeDocument/2006/relationships/tags" Target="../tags/tag5.xml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96.wmf"/><Relationship Id="rId2" Type="http://schemas.openxmlformats.org/officeDocument/2006/relationships/tags" Target="../tags/tag4.xml"/><Relationship Id="rId16" Type="http://schemas.openxmlformats.org/officeDocument/2006/relationships/image" Target="../media/image98.wmf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77.bin"/><Relationship Id="rId5" Type="http://schemas.openxmlformats.org/officeDocument/2006/relationships/tags" Target="../tags/tag7.xml"/><Relationship Id="rId15" Type="http://schemas.openxmlformats.org/officeDocument/2006/relationships/oleObject" Target="../embeddings/oleObject79.bin"/><Relationship Id="rId10" Type="http://schemas.openxmlformats.org/officeDocument/2006/relationships/image" Target="../media/image95.wmf"/><Relationship Id="rId4" Type="http://schemas.openxmlformats.org/officeDocument/2006/relationships/tags" Target="../tags/tag6.xml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9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104.wmf"/><Relationship Id="rId3" Type="http://schemas.openxmlformats.org/officeDocument/2006/relationships/image" Target="../media/image99.emf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06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5" Type="http://schemas.openxmlformats.org/officeDocument/2006/relationships/image" Target="../media/image105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102.wmf"/><Relationship Id="rId14" Type="http://schemas.openxmlformats.org/officeDocument/2006/relationships/oleObject" Target="../embeddings/oleObject8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90.bin"/><Relationship Id="rId3" Type="http://schemas.openxmlformats.org/officeDocument/2006/relationships/tags" Target="../tags/tag10.xml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09.wmf"/><Relationship Id="rId2" Type="http://schemas.openxmlformats.org/officeDocument/2006/relationships/tags" Target="../tags/tag9.xml"/><Relationship Id="rId16" Type="http://schemas.openxmlformats.org/officeDocument/2006/relationships/image" Target="../media/image111.wmf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7.xml"/><Relationship Id="rId11" Type="http://schemas.openxmlformats.org/officeDocument/2006/relationships/oleObject" Target="../embeddings/oleObject89.bin"/><Relationship Id="rId5" Type="http://schemas.openxmlformats.org/officeDocument/2006/relationships/tags" Target="../tags/tag12.xml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108.wmf"/><Relationship Id="rId4" Type="http://schemas.openxmlformats.org/officeDocument/2006/relationships/tags" Target="../tags/tag11.xml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11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21.wmf"/><Relationship Id="rId3" Type="http://schemas.openxmlformats.org/officeDocument/2006/relationships/image" Target="../media/image112.png"/><Relationship Id="rId21" Type="http://schemas.openxmlformats.org/officeDocument/2006/relationships/oleObject" Target="../embeddings/oleObject100.bin"/><Relationship Id="rId7" Type="http://schemas.openxmlformats.org/officeDocument/2006/relationships/image" Target="../media/image115.wmf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98.bin"/><Relationship Id="rId2" Type="http://schemas.openxmlformats.org/officeDocument/2006/relationships/oleObject" Target="../embeddings/oleObject92.bin"/><Relationship Id="rId16" Type="http://schemas.openxmlformats.org/officeDocument/2006/relationships/image" Target="../media/image120.wmf"/><Relationship Id="rId20" Type="http://schemas.openxmlformats.org/officeDocument/2006/relationships/image" Target="../media/image1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3.bin"/><Relationship Id="rId11" Type="http://schemas.openxmlformats.org/officeDocument/2006/relationships/image" Target="../media/image117.wmf"/><Relationship Id="rId24" Type="http://schemas.openxmlformats.org/officeDocument/2006/relationships/image" Target="../media/image124.emf"/><Relationship Id="rId5" Type="http://schemas.openxmlformats.org/officeDocument/2006/relationships/image" Target="../media/image114.jpeg"/><Relationship Id="rId15" Type="http://schemas.openxmlformats.org/officeDocument/2006/relationships/oleObject" Target="../embeddings/oleObject97.bin"/><Relationship Id="rId23" Type="http://schemas.openxmlformats.org/officeDocument/2006/relationships/oleObject" Target="../embeddings/oleObject101.bin"/><Relationship Id="rId10" Type="http://schemas.openxmlformats.org/officeDocument/2006/relationships/oleObject" Target="../embeddings/oleObject95.bin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113.jpeg"/><Relationship Id="rId9" Type="http://schemas.openxmlformats.org/officeDocument/2006/relationships/image" Target="../media/image116.wmf"/><Relationship Id="rId14" Type="http://schemas.openxmlformats.org/officeDocument/2006/relationships/image" Target="../media/image119.wmf"/><Relationship Id="rId22" Type="http://schemas.openxmlformats.org/officeDocument/2006/relationships/image" Target="../media/image12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E0F25FAF-FA61-4A04-80F7-6DEDB16FF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3" y="5060950"/>
            <a:ext cx="4992687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1" lang="zh-CN" altLang="en-US" sz="3733" b="1">
                <a:solidFill>
                  <a:srgbClr val="3333CC"/>
                </a:solidFill>
                <a:latin typeface="Times New Roman" panose="02020603050405020304" pitchFamily="18" charset="0"/>
                <a:ea typeface="楷体_GB2312" pitchFamily="49" charset="-122"/>
              </a:rPr>
              <a:t>运动的数学表达式为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31A803ED-FE9F-4F6D-B29E-0F1D4CF0B8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38513" y="5924550"/>
          <a:ext cx="506253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27200" imgH="228600" progId="Equation.DSMT4">
                  <p:embed/>
                </p:oleObj>
              </mc:Choice>
              <mc:Fallback>
                <p:oleObj name="Equation" r:id="rId4" imgW="172720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3" y="5924550"/>
                        <a:ext cx="506253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r:id="rId1" imgW="0" imgH="0"/>
        </mc:Choice>
        <mc:Fallback>
          <p:control r:id="rId1" imgW="0" imgH="0">
            <p:pic>
              <p:nvPicPr>
                <p:cNvPr id="3076" name="ShockwaveFlash1">
                  <a:extLst>
                    <a:ext uri="{FF2B5EF4-FFF2-40B4-BE49-F238E27FC236}">
                      <a16:creationId xmlns:a16="http://schemas.microsoft.com/office/drawing/2014/main" id="{B181C1B2-338F-4681-8140-44BA166B0B97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14388" y="-26988"/>
                  <a:ext cx="10964862" cy="48148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B5670ECB-A60D-4F26-B706-5C72FC561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2852738"/>
            <a:ext cx="1300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推广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7F32877-2B3C-4389-B589-A8A658C324B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85950" y="381000"/>
            <a:ext cx="2667000" cy="1143000"/>
          </a:xfrm>
          <a:noFill/>
        </p:spPr>
        <p:txBody>
          <a:bodyPr/>
          <a:lstStyle/>
          <a:p>
            <a:pPr algn="l" eaLnBrk="1" hangingPunct="1"/>
            <a:r>
              <a:rPr lang="zh-CN" altLang="en-US" sz="6000">
                <a:solidFill>
                  <a:schemeClr val="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第五章</a:t>
            </a:r>
            <a:r>
              <a:rPr lang="zh-CN" altLang="en-US" sz="6000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67990FE4-7181-41E0-B149-11905D643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133600"/>
            <a:ext cx="31416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一元函数微分学 </a:t>
            </a:r>
          </a:p>
        </p:txBody>
      </p:sp>
      <p:sp>
        <p:nvSpPr>
          <p:cNvPr id="53253" name="Line 5">
            <a:extLst>
              <a:ext uri="{FF2B5EF4-FFF2-40B4-BE49-F238E27FC236}">
                <a16:creationId xmlns:a16="http://schemas.microsoft.com/office/drawing/2014/main" id="{99116D8F-D81B-4BB8-8B67-581FDC177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6550" y="2781300"/>
            <a:ext cx="6350" cy="762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A1BB749A-6972-48C4-9BC9-85DA2A1BC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3573463"/>
            <a:ext cx="314166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32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多元函数微分学 </a:t>
            </a:r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7D733AE5-E48F-48D8-A76A-9A64378B5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4508500"/>
            <a:ext cx="56753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注意</a:t>
            </a: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: 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善于类比</a:t>
            </a:r>
            <a:r>
              <a:rPr kumimoji="1" lang="en-US" altLang="zh-CN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区别异同</a:t>
            </a:r>
          </a:p>
        </p:txBody>
      </p:sp>
      <p:sp>
        <p:nvSpPr>
          <p:cNvPr id="5128" name="Text Box 8">
            <a:extLst>
              <a:ext uri="{FF2B5EF4-FFF2-40B4-BE49-F238E27FC236}">
                <a16:creationId xmlns:a16="http://schemas.microsoft.com/office/drawing/2014/main" id="{6A5B3BD6-172C-4828-B311-5A9B29FD3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57200"/>
            <a:ext cx="5943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6000">
                <a:solidFill>
                  <a:schemeClr val="hlink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多元函数微分学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build="p" autoUpdateAnimBg="0"/>
      <p:bldP spid="53252" grpId="0" build="p" autoUpdateAnimBg="0"/>
      <p:bldP spid="53254" grpId="0" build="p" autoUpdateAnimBg="0" advAuto="0"/>
      <p:bldP spid="5325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>
            <a:extLst>
              <a:ext uri="{FF2B5EF4-FFF2-40B4-BE49-F238E27FC236}">
                <a16:creationId xmlns:a16="http://schemas.microsoft.com/office/drawing/2014/main" id="{DBEC7E84-0CED-4A15-B5E9-46C97C441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2133600"/>
            <a:ext cx="1008062" cy="5889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集合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7CC92B06-B09E-446D-9B57-D8F9369BA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5" y="2133600"/>
            <a:ext cx="1008063" cy="5889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函数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7490FA70-C616-4D57-B1CA-530C08A11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052513"/>
            <a:ext cx="1008063" cy="5889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连续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AB854207-D1B5-4B1B-B4F1-A89A70F30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919288"/>
            <a:ext cx="1008063" cy="588962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偏导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F489E977-4190-46D1-B5A6-929F3BB7CB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925763"/>
            <a:ext cx="1008063" cy="59055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可微</a:t>
            </a:r>
          </a:p>
        </p:txBody>
      </p:sp>
      <p:sp>
        <p:nvSpPr>
          <p:cNvPr id="54279" name="AutoShape 7">
            <a:extLst>
              <a:ext uri="{FF2B5EF4-FFF2-40B4-BE49-F238E27FC236}">
                <a16:creationId xmlns:a16="http://schemas.microsoft.com/office/drawing/2014/main" id="{E29F994D-0935-482D-82BE-7BBBFD152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2276475"/>
            <a:ext cx="215900" cy="358775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4280" name="AutoShape 8">
            <a:extLst>
              <a:ext uri="{FF2B5EF4-FFF2-40B4-BE49-F238E27FC236}">
                <a16:creationId xmlns:a16="http://schemas.microsoft.com/office/drawing/2014/main" id="{F515C91D-DDCE-4D2D-86A1-949A2CFB2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2205038"/>
            <a:ext cx="976312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4281" name="AutoShape 9">
            <a:extLst>
              <a:ext uri="{FF2B5EF4-FFF2-40B4-BE49-F238E27FC236}">
                <a16:creationId xmlns:a16="http://schemas.microsoft.com/office/drawing/2014/main" id="{A726B774-0639-43DE-9C84-878077E5E9FA}"/>
              </a:ext>
            </a:extLst>
          </p:cNvPr>
          <p:cNvSpPr>
            <a:spLocks/>
          </p:cNvSpPr>
          <p:nvPr/>
        </p:nvSpPr>
        <p:spPr bwMode="auto">
          <a:xfrm>
            <a:off x="6743700" y="1341438"/>
            <a:ext cx="144463" cy="2663825"/>
          </a:xfrm>
          <a:prstGeom prst="leftBrace">
            <a:avLst>
              <a:gd name="adj1" fmla="val 1536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4282" name="Text Box 10">
            <a:extLst>
              <a:ext uri="{FF2B5EF4-FFF2-40B4-BE49-F238E27FC236}">
                <a16:creationId xmlns:a16="http://schemas.microsoft.com/office/drawing/2014/main" id="{A3E68F0D-3284-45B1-8521-16898914C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1412875"/>
            <a:ext cx="1008062" cy="588963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极限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984B10BE-01AF-4161-94ED-451D33B42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3794125"/>
            <a:ext cx="2286000" cy="5842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/>
              <a:t>方向导数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54276" grpId="0" animBg="1"/>
      <p:bldP spid="54277" grpId="0" animBg="1"/>
      <p:bldP spid="54278" grpId="0" animBg="1"/>
      <p:bldP spid="54279" grpId="0" animBg="1"/>
      <p:bldP spid="54280" grpId="0" animBg="1"/>
      <p:bldP spid="54281" grpId="0" animBg="1"/>
      <p:bldP spid="54282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66F4D3AF-D642-42D5-AF40-468FF4032D4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454150" y="889000"/>
            <a:ext cx="2133600" cy="990600"/>
          </a:xfrm>
          <a:noFill/>
        </p:spPr>
        <p:txBody>
          <a:bodyPr/>
          <a:lstStyle/>
          <a:p>
            <a:pPr eaLnBrk="1" hangingPunct="1"/>
            <a:r>
              <a:rPr lang="zh-CN" altLang="en-US" sz="4800" b="1">
                <a:solidFill>
                  <a:schemeClr val="tx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</a:t>
            </a:r>
          </a:p>
        </p:txBody>
      </p:sp>
      <p:sp>
        <p:nvSpPr>
          <p:cNvPr id="7171" name="Text Box 6">
            <a:extLst>
              <a:ext uri="{FF2B5EF4-FFF2-40B4-BE49-F238E27FC236}">
                <a16:creationId xmlns:a16="http://schemas.microsoft.com/office/drawing/2014/main" id="{35DE77E9-B0B3-4317-8800-3A7009C23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2286000"/>
            <a:ext cx="40179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一、邻域，区域</a:t>
            </a:r>
          </a:p>
        </p:txBody>
      </p:sp>
      <p:sp>
        <p:nvSpPr>
          <p:cNvPr id="7172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2C3493F9-E43F-41AA-8DC8-224E52D4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3048000"/>
            <a:ext cx="4048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二、多元函数的概念</a:t>
            </a:r>
          </a:p>
        </p:txBody>
      </p:sp>
      <p:sp>
        <p:nvSpPr>
          <p:cNvPr id="7173" name="Text Box 8">
            <a:hlinkClick r:id="rId3" action="ppaction://hlinksldjump"/>
            <a:extLst>
              <a:ext uri="{FF2B5EF4-FFF2-40B4-BE49-F238E27FC236}">
                <a16:creationId xmlns:a16="http://schemas.microsoft.com/office/drawing/2014/main" id="{F45071C4-603B-4C07-914B-40425B653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3763963"/>
            <a:ext cx="4048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三、多元函数的极限</a:t>
            </a:r>
          </a:p>
        </p:txBody>
      </p:sp>
      <p:sp>
        <p:nvSpPr>
          <p:cNvPr id="7174" name="Text Box 9">
            <a:hlinkClick r:id="" action="ppaction://noaction"/>
            <a:extLst>
              <a:ext uri="{FF2B5EF4-FFF2-40B4-BE49-F238E27FC236}">
                <a16:creationId xmlns:a16="http://schemas.microsoft.com/office/drawing/2014/main" id="{B0DE7DCE-92F4-44CC-8B38-115751115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4602163"/>
            <a:ext cx="4475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latin typeface="Times New Roman" panose="02020603050405020304" pitchFamily="18" charset="0"/>
                <a:ea typeface="楷体_GB2312" pitchFamily="49" charset="-122"/>
              </a:rPr>
              <a:t>四、多元函数的连续性</a:t>
            </a:r>
          </a:p>
        </p:txBody>
      </p:sp>
      <p:sp>
        <p:nvSpPr>
          <p:cNvPr id="7175" name="Text Box 11">
            <a:extLst>
              <a:ext uri="{FF2B5EF4-FFF2-40B4-BE49-F238E27FC236}">
                <a16:creationId xmlns:a16="http://schemas.microsoft.com/office/drawing/2014/main" id="{3C84AF2D-45AD-4821-825C-57892C81F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952500"/>
            <a:ext cx="57245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4800" b="1">
                <a:latin typeface="华文行楷" panose="02010800040101010101" pitchFamily="2" charset="-122"/>
                <a:ea typeface="华文行楷" panose="02010800040101010101" pitchFamily="2" charset="-122"/>
              </a:rPr>
              <a:t>多元函数及其连续性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2">
            <a:extLst>
              <a:ext uri="{FF2B5EF4-FFF2-40B4-BE49-F238E27FC236}">
                <a16:creationId xmlns:a16="http://schemas.microsoft.com/office/drawing/2014/main" id="{DF1DC4BB-81DF-423C-B8ED-30863E1101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2738" y="4597400"/>
          <a:ext cx="3886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7199" imgH="647873" progId="Equation.3">
                  <p:embed/>
                </p:oleObj>
              </mc:Choice>
              <mc:Fallback>
                <p:oleObj name="Equation" r:id="rId2" imgW="3867199" imgH="647873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738" y="4597400"/>
                        <a:ext cx="3886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Object 3">
            <a:extLst>
              <a:ext uri="{FF2B5EF4-FFF2-40B4-BE49-F238E27FC236}">
                <a16:creationId xmlns:a16="http://schemas.microsoft.com/office/drawing/2014/main" id="{345A20C3-74F8-4456-BC10-3C2BC86A33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4400" y="4813300"/>
          <a:ext cx="170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270" imgH="437977" progId="Equation.3">
                  <p:embed/>
                </p:oleObj>
              </mc:Choice>
              <mc:Fallback>
                <p:oleObj name="Equation" r:id="rId4" imgW="1676270" imgH="43797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400" y="4813300"/>
                        <a:ext cx="170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4">
            <a:extLst>
              <a:ext uri="{FF2B5EF4-FFF2-40B4-BE49-F238E27FC236}">
                <a16:creationId xmlns:a16="http://schemas.microsoft.com/office/drawing/2014/main" id="{148D43D7-56FB-4CE6-954A-36DC9F76EC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17463"/>
            <a:ext cx="37338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一、 邻域，区域</a:t>
            </a:r>
          </a:p>
        </p:txBody>
      </p:sp>
      <p:sp>
        <p:nvSpPr>
          <p:cNvPr id="56325" name="Text Box 5">
            <a:extLst>
              <a:ext uri="{FF2B5EF4-FFF2-40B4-BE49-F238E27FC236}">
                <a16:creationId xmlns:a16="http://schemas.microsoft.com/office/drawing/2014/main" id="{6A0F30F5-697A-4714-A137-108856827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630238"/>
            <a:ext cx="2667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1. </a:t>
            </a:r>
            <a:r>
              <a:rPr kumimoji="1" lang="zh-CN" altLang="en-US" sz="28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邻域</a:t>
            </a:r>
          </a:p>
        </p:txBody>
      </p:sp>
      <p:sp>
        <p:nvSpPr>
          <p:cNvPr id="56326" name="Text Box 6">
            <a:extLst>
              <a:ext uri="{FF2B5EF4-FFF2-40B4-BE49-F238E27FC236}">
                <a16:creationId xmlns:a16="http://schemas.microsoft.com/office/drawing/2014/main" id="{03178D5F-B08C-4D4E-A41B-39F5BB60E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8788" y="630238"/>
            <a:ext cx="16764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点集</a:t>
            </a:r>
          </a:p>
        </p:txBody>
      </p:sp>
      <p:graphicFrame>
        <p:nvGraphicFramePr>
          <p:cNvPr id="56327" name="Object 7">
            <a:extLst>
              <a:ext uri="{FF2B5EF4-FFF2-40B4-BE49-F238E27FC236}">
                <a16:creationId xmlns:a16="http://schemas.microsoft.com/office/drawing/2014/main" id="{A48EB963-E71C-401E-BE8A-5598B2E8A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950" y="700088"/>
          <a:ext cx="3581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62139" imgH="437977" progId="Equation.3">
                  <p:embed/>
                </p:oleObj>
              </mc:Choice>
              <mc:Fallback>
                <p:oleObj name="Equation" r:id="rId6" imgW="3562139" imgH="43797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700088"/>
                        <a:ext cx="3581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>
            <a:extLst>
              <a:ext uri="{FF2B5EF4-FFF2-40B4-BE49-F238E27FC236}">
                <a16:creationId xmlns:a16="http://schemas.microsoft.com/office/drawing/2014/main" id="{A6DAB935-4614-4789-9752-892CF5373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630238"/>
            <a:ext cx="3505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称为点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1" lang="zh-CN" altLang="en-US" sz="2800" b="1" i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 </a:t>
            </a:r>
            <a:r>
              <a:rPr kumimoji="1" lang="zh-CN" altLang="en-US" sz="28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邻域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6329" name="Text Box 9">
            <a:extLst>
              <a:ext uri="{FF2B5EF4-FFF2-40B4-BE49-F238E27FC236}">
                <a16:creationId xmlns:a16="http://schemas.microsoft.com/office/drawing/2014/main" id="{7ACEAF51-39AF-42E0-8D43-D1F0413E7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5" y="1709738"/>
            <a:ext cx="274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kumimoji="1" lang="en-US" altLang="zh-CN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2800" dirty="0">
                <a:latin typeface="楷体_GB2312" pitchFamily="49" charset="-122"/>
                <a:ea typeface="楷体_GB2312" pitchFamily="49" charset="-122"/>
              </a:rPr>
              <a:t>在平面上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56330" name="Object 10">
            <a:extLst>
              <a:ext uri="{FF2B5EF4-FFF2-40B4-BE49-F238E27FC236}">
                <a16:creationId xmlns:a16="http://schemas.microsoft.com/office/drawing/2014/main" id="{CA9FA5BA-1C69-4498-9105-D12554EE8207}"/>
              </a:ext>
            </a:extLst>
          </p:cNvPr>
          <p:cNvGraphicFramePr>
            <a:graphicFrameLocks/>
          </p:cNvGraphicFramePr>
          <p:nvPr/>
        </p:nvGraphicFramePr>
        <p:xfrm>
          <a:off x="3417888" y="1800225"/>
          <a:ext cx="64341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419737" imgH="437977" progId="Equation.3">
                  <p:embed/>
                </p:oleObj>
              </mc:Choice>
              <mc:Fallback>
                <p:oleObj name="Equation" r:id="rId8" imgW="6419737" imgH="43797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1800225"/>
                        <a:ext cx="64341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Text Box 11">
            <a:extLst>
              <a:ext uri="{FF2B5EF4-FFF2-40B4-BE49-F238E27FC236}">
                <a16:creationId xmlns:a16="http://schemas.microsoft.com/office/drawing/2014/main" id="{28DFD646-A0FC-40C2-9D2F-56F9C6560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8700" y="1728788"/>
            <a:ext cx="1600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圆邻域</a:t>
            </a:r>
            <a:r>
              <a:rPr kumimoji="1" lang="en-US" altLang="zh-CN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6332" name="Text Box 12">
            <a:extLst>
              <a:ext uri="{FF2B5EF4-FFF2-40B4-BE49-F238E27FC236}">
                <a16:creationId xmlns:a16="http://schemas.microsoft.com/office/drawing/2014/main" id="{D63B4A25-4C1D-4F71-B62B-5EC021389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54793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在空间中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56333" name="Object 13">
            <a:extLst>
              <a:ext uri="{FF2B5EF4-FFF2-40B4-BE49-F238E27FC236}">
                <a16:creationId xmlns:a16="http://schemas.microsoft.com/office/drawing/2014/main" id="{958B3D12-77AC-48BF-ABE1-6C8E5A34A79F}"/>
              </a:ext>
            </a:extLst>
          </p:cNvPr>
          <p:cNvGraphicFramePr>
            <a:graphicFrameLocks/>
          </p:cNvGraphicFramePr>
          <p:nvPr/>
        </p:nvGraphicFramePr>
        <p:xfrm>
          <a:off x="3417888" y="2622550"/>
          <a:ext cx="821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91468" imgH="437977" progId="Equation.3">
                  <p:embed/>
                </p:oleObj>
              </mc:Choice>
              <mc:Fallback>
                <p:oleObj name="Equation" r:id="rId10" imgW="8191468" imgH="437977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888" y="2622550"/>
                        <a:ext cx="821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Text Box 14">
            <a:extLst>
              <a:ext uri="{FF2B5EF4-FFF2-40B4-BE49-F238E27FC236}">
                <a16:creationId xmlns:a16="http://schemas.microsoft.com/office/drawing/2014/main" id="{19B51904-EBAB-4E78-881E-05E2DBA94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5688" y="3151188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球邻域</a:t>
            </a:r>
            <a:r>
              <a:rPr kumimoji="1" lang="en-US" altLang="zh-CN" sz="24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56335" name="Text Box 15">
            <a:extLst>
              <a:ext uri="{FF2B5EF4-FFF2-40B4-BE49-F238E27FC236}">
                <a16:creationId xmlns:a16="http://schemas.microsoft.com/office/drawing/2014/main" id="{550C0674-F107-4ED5-B917-7869F59E0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397033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若不需要强调邻域半径</a:t>
            </a:r>
            <a:r>
              <a:rPr kumimoji="1" lang="zh-CN" altLang="en-US" sz="2800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也可写成</a:t>
            </a:r>
          </a:p>
        </p:txBody>
      </p:sp>
      <p:graphicFrame>
        <p:nvGraphicFramePr>
          <p:cNvPr id="56336" name="Object 16">
            <a:extLst>
              <a:ext uri="{FF2B5EF4-FFF2-40B4-BE49-F238E27FC236}">
                <a16:creationId xmlns:a16="http://schemas.microsoft.com/office/drawing/2014/main" id="{18543FF0-2656-4660-B23D-2C8D21C688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9350" y="4041775"/>
          <a:ext cx="990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1728" imgH="412519" progId="Equation.3">
                  <p:embed/>
                </p:oleObj>
              </mc:Choice>
              <mc:Fallback>
                <p:oleObj name="Equation" r:id="rId12" imgW="971728" imgH="41251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9350" y="4041775"/>
                        <a:ext cx="990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7" name="Text Box 17">
            <a:extLst>
              <a:ext uri="{FF2B5EF4-FFF2-40B4-BE49-F238E27FC236}">
                <a16:creationId xmlns:a16="http://schemas.microsoft.com/office/drawing/2014/main" id="{09879259-45E0-49BF-B62A-E7F9857AC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3725" y="4741863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去心邻域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记为</a:t>
            </a:r>
          </a:p>
        </p:txBody>
      </p:sp>
      <p:graphicFrame>
        <p:nvGraphicFramePr>
          <p:cNvPr id="56338" name="Object 18">
            <a:extLst>
              <a:ext uri="{FF2B5EF4-FFF2-40B4-BE49-F238E27FC236}">
                <a16:creationId xmlns:a16="http://schemas.microsoft.com/office/drawing/2014/main" id="{326594A9-4E91-4959-B4A8-5DD9BAE151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0100" y="700088"/>
          <a:ext cx="119856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62131" imgH="437977" progId="Equation.3">
                  <p:embed/>
                </p:oleObj>
              </mc:Choice>
              <mc:Fallback>
                <p:oleObj name="公式" r:id="rId14" imgW="1162131" imgH="43797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700088"/>
                        <a:ext cx="1198563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9" name="Object 19">
            <a:extLst>
              <a:ext uri="{FF2B5EF4-FFF2-40B4-BE49-F238E27FC236}">
                <a16:creationId xmlns:a16="http://schemas.microsoft.com/office/drawing/2014/main" id="{A8398281-FA94-49BE-8618-96E7AA4BA3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3300" y="1728788"/>
          <a:ext cx="36195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00531" imgH="514350" progId="Equation.3">
                  <p:embed/>
                </p:oleObj>
              </mc:Choice>
              <mc:Fallback>
                <p:oleObj name="Equation" r:id="rId16" imgW="3600531" imgH="51435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300" y="1728788"/>
                        <a:ext cx="36195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0">
            <a:extLst>
              <a:ext uri="{FF2B5EF4-FFF2-40B4-BE49-F238E27FC236}">
                <a16:creationId xmlns:a16="http://schemas.microsoft.com/office/drawing/2014/main" id="{4A07BD1F-E05C-42E6-93D8-E438AF2F6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4125" y="2551113"/>
          <a:ext cx="51482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289772" imgH="514350" progId="Equation.3">
                  <p:embed/>
                </p:oleObj>
              </mc:Choice>
              <mc:Fallback>
                <p:oleObj name="Equation" r:id="rId18" imgW="5289772" imgH="51435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2551113"/>
                        <a:ext cx="51482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 autoUpdateAnimBg="0"/>
      <p:bldP spid="56326" grpId="0" autoUpdateAnimBg="0"/>
      <p:bldP spid="56328" grpId="0" autoUpdateAnimBg="0"/>
      <p:bldP spid="56329" grpId="0" autoUpdateAnimBg="0"/>
      <p:bldP spid="56331" grpId="0" autoUpdateAnimBg="0"/>
      <p:bldP spid="56332" grpId="0" autoUpdateAnimBg="0"/>
      <p:bldP spid="56334" grpId="0" autoUpdateAnimBg="0"/>
      <p:bldP spid="56335" grpId="0" autoUpdateAnimBg="0"/>
      <p:bldP spid="5633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Oval 2">
            <a:extLst>
              <a:ext uri="{FF2B5EF4-FFF2-40B4-BE49-F238E27FC236}">
                <a16:creationId xmlns:a16="http://schemas.microsoft.com/office/drawing/2014/main" id="{0480644A-269D-4E22-98D1-CCA92C689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984250"/>
            <a:ext cx="2286000" cy="2286000"/>
          </a:xfrm>
          <a:prstGeom prst="ellipse">
            <a:avLst/>
          </a:prstGeom>
          <a:solidFill>
            <a:srgbClr val="A1DDD4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49A3F5F-C431-4BFB-A58A-8926F482A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289050"/>
            <a:ext cx="15240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7348" name="Oval 4">
            <a:extLst>
              <a:ext uri="{FF2B5EF4-FFF2-40B4-BE49-F238E27FC236}">
                <a16:creationId xmlns:a16="http://schemas.microsoft.com/office/drawing/2014/main" id="{1C600DF7-E79D-407A-B225-98033776D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289050"/>
            <a:ext cx="1524000" cy="16764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1CFFE8D1-A9E7-4E39-88FF-745C6C46C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336550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在讨论实际问题中也常使用方邻域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0FB6A7B-B194-41B6-9A1B-4A876370B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36195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平面上的方邻域为</a:t>
            </a:r>
          </a:p>
        </p:txBody>
      </p:sp>
      <p:graphicFrame>
        <p:nvGraphicFramePr>
          <p:cNvPr id="57351" name="Object 7">
            <a:extLst>
              <a:ext uri="{FF2B5EF4-FFF2-40B4-BE49-F238E27FC236}">
                <a16:creationId xmlns:a16="http://schemas.microsoft.com/office/drawing/2014/main" id="{A379A75C-7F4A-472B-87F3-3753D6DD11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2663" y="3716338"/>
          <a:ext cx="65801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96001" imgH="450965" progId="Equation.3">
                  <p:embed/>
                </p:oleObj>
              </mc:Choice>
              <mc:Fallback>
                <p:oleObj name="Equation" r:id="rId2" imgW="6496001" imgH="4509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3716338"/>
                        <a:ext cx="65801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5A5EA88A-4AA8-4F49-BBF3-46623ABBFE1D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746250"/>
            <a:ext cx="838200" cy="800100"/>
            <a:chOff x="4656" y="1392"/>
            <a:chExt cx="528" cy="504"/>
          </a:xfrm>
        </p:grpSpPr>
        <p:sp>
          <p:nvSpPr>
            <p:cNvPr id="9231" name="Text Box 9">
              <a:extLst>
                <a:ext uri="{FF2B5EF4-FFF2-40B4-BE49-F238E27FC236}">
                  <a16:creationId xmlns:a16="http://schemas.microsoft.com/office/drawing/2014/main" id="{0AB5E1FD-126E-4C34-97FC-598788436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392"/>
              <a:ext cx="5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。</a:t>
              </a:r>
            </a:p>
          </p:txBody>
        </p:sp>
        <p:graphicFrame>
          <p:nvGraphicFramePr>
            <p:cNvPr id="9232" name="Object 10">
              <a:extLst>
                <a:ext uri="{FF2B5EF4-FFF2-40B4-BE49-F238E27FC236}">
                  <a16:creationId xmlns:a16="http://schemas.microsoft.com/office/drawing/2014/main" id="{4DDB758D-84DA-467C-9AC2-ACA10D435A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3" y="1488"/>
            <a:ext cx="31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530" imgH="209377" progId="Equation.3">
                    <p:embed/>
                  </p:oleObj>
                </mc:Choice>
                <mc:Fallback>
                  <p:oleObj name="公式" r:id="rId4" imgW="152530" imgH="209377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488"/>
                          <a:ext cx="31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7355" name="Text Box 11">
            <a:extLst>
              <a:ext uri="{FF2B5EF4-FFF2-40B4-BE49-F238E27FC236}">
                <a16:creationId xmlns:a16="http://schemas.microsoft.com/office/drawing/2014/main" id="{7AFFE301-8621-46AC-AAF6-7F4957868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4290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因为方邻域与圆</a:t>
            </a:r>
          </a:p>
        </p:txBody>
      </p:sp>
      <p:sp>
        <p:nvSpPr>
          <p:cNvPr id="57356" name="Text Box 12">
            <a:extLst>
              <a:ext uri="{FF2B5EF4-FFF2-40B4-BE49-F238E27FC236}">
                <a16:creationId xmlns:a16="http://schemas.microsoft.com/office/drawing/2014/main" id="{95037E24-297C-47CB-BF5A-3C5C978AFB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9488" y="3571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邻域可以互相包含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57357" name="Object 13">
            <a:extLst>
              <a:ext uri="{FF2B5EF4-FFF2-40B4-BE49-F238E27FC236}">
                <a16:creationId xmlns:a16="http://schemas.microsoft.com/office/drawing/2014/main" id="{B5B9E82A-ADF9-4236-9C74-303ADE132E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3714750"/>
          <a:ext cx="1738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07918" imgH="450965" progId="Equation.3">
                  <p:embed/>
                </p:oleObj>
              </mc:Choice>
              <mc:Fallback>
                <p:oleObj name="Equation" r:id="rId6" imgW="1707918" imgH="45096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714750"/>
                        <a:ext cx="1738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8" name="Object 14">
            <a:extLst>
              <a:ext uri="{FF2B5EF4-FFF2-40B4-BE49-F238E27FC236}">
                <a16:creationId xmlns:a16="http://schemas.microsoft.com/office/drawing/2014/main" id="{C058FC83-0D52-4CBB-9DD7-E271A6B50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1500" y="3692525"/>
          <a:ext cx="15763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32172" imgH="450965" progId="Equation.3">
                  <p:embed/>
                </p:oleObj>
              </mc:Choice>
              <mc:Fallback>
                <p:oleObj name="Equation" r:id="rId8" imgW="1632172" imgH="45096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0" y="3692525"/>
                        <a:ext cx="15763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6">
            <a:extLst>
              <a:ext uri="{FF2B5EF4-FFF2-40B4-BE49-F238E27FC236}">
                <a16:creationId xmlns:a16="http://schemas.microsoft.com/office/drawing/2014/main" id="{53BB2088-616D-4290-8D43-7072AF3E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605338"/>
            <a:ext cx="518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平面上的去心方邻域为  ？</a:t>
            </a:r>
          </a:p>
        </p:txBody>
      </p:sp>
      <p:pic>
        <p:nvPicPr>
          <p:cNvPr id="18" name="Picture 12" descr="0017">
            <a:extLst>
              <a:ext uri="{FF2B5EF4-FFF2-40B4-BE49-F238E27FC236}">
                <a16:creationId xmlns:a16="http://schemas.microsoft.com/office/drawing/2014/main" id="{69B5BF5D-975A-4590-89A9-F25D276E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100" y="4635500"/>
            <a:ext cx="3024188" cy="202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 animBg="1"/>
      <p:bldP spid="57347" grpId="0" animBg="1"/>
      <p:bldP spid="57348" grpId="0" animBg="1"/>
      <p:bldP spid="57350" grpId="0" autoUpdateAnimBg="0"/>
      <p:bldP spid="57355" grpId="0" autoUpdateAnimBg="0"/>
      <p:bldP spid="57356" grpId="0" autoUpdateAnimBg="0"/>
      <p:bldP spid="1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reeform 2">
            <a:extLst>
              <a:ext uri="{FF2B5EF4-FFF2-40B4-BE49-F238E27FC236}">
                <a16:creationId xmlns:a16="http://schemas.microsoft.com/office/drawing/2014/main" id="{A84302CB-F638-4490-BF70-B0CA014DB7B9}"/>
              </a:ext>
            </a:extLst>
          </p:cNvPr>
          <p:cNvSpPr>
            <a:spLocks/>
          </p:cNvSpPr>
          <p:nvPr/>
        </p:nvSpPr>
        <p:spPr bwMode="auto">
          <a:xfrm>
            <a:off x="8675688" y="436563"/>
            <a:ext cx="2438400" cy="1295400"/>
          </a:xfrm>
          <a:custGeom>
            <a:avLst/>
            <a:gdLst>
              <a:gd name="T0" fmla="*/ 2147483646 w 1736"/>
              <a:gd name="T1" fmla="*/ 2147483646 h 1640"/>
              <a:gd name="T2" fmla="*/ 2147483646 w 1736"/>
              <a:gd name="T3" fmla="*/ 2147483646 h 1640"/>
              <a:gd name="T4" fmla="*/ 2147483646 w 1736"/>
              <a:gd name="T5" fmla="*/ 2147483646 h 1640"/>
              <a:gd name="T6" fmla="*/ 2147483646 w 1736"/>
              <a:gd name="T7" fmla="*/ 2147483646 h 1640"/>
              <a:gd name="T8" fmla="*/ 2147483646 w 1736"/>
              <a:gd name="T9" fmla="*/ 2147483646 h 1640"/>
              <a:gd name="T10" fmla="*/ 2147483646 w 1736"/>
              <a:gd name="T11" fmla="*/ 2147483646 h 1640"/>
              <a:gd name="T12" fmla="*/ 2147483646 w 1736"/>
              <a:gd name="T13" fmla="*/ 2147483646 h 1640"/>
              <a:gd name="T14" fmla="*/ 2147483646 w 1736"/>
              <a:gd name="T15" fmla="*/ 2147483646 h 1640"/>
              <a:gd name="T16" fmla="*/ 2147483646 w 1736"/>
              <a:gd name="T17" fmla="*/ 2147483646 h 1640"/>
              <a:gd name="T18" fmla="*/ 2147483646 w 1736"/>
              <a:gd name="T19" fmla="*/ 2147483646 h 1640"/>
              <a:gd name="T20" fmla="*/ 2147483646 w 1736"/>
              <a:gd name="T21" fmla="*/ 2147483646 h 16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36"/>
              <a:gd name="T34" fmla="*/ 0 h 1640"/>
              <a:gd name="T35" fmla="*/ 1736 w 1736"/>
              <a:gd name="T36" fmla="*/ 1640 h 164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36" h="1640">
                <a:moveTo>
                  <a:pt x="344" y="192"/>
                </a:moveTo>
                <a:cubicBezTo>
                  <a:pt x="256" y="272"/>
                  <a:pt x="16" y="360"/>
                  <a:pt x="8" y="528"/>
                </a:cubicBezTo>
                <a:cubicBezTo>
                  <a:pt x="0" y="696"/>
                  <a:pt x="168" y="1032"/>
                  <a:pt x="296" y="1200"/>
                </a:cubicBezTo>
                <a:cubicBezTo>
                  <a:pt x="424" y="1368"/>
                  <a:pt x="600" y="1472"/>
                  <a:pt x="776" y="1536"/>
                </a:cubicBezTo>
                <a:cubicBezTo>
                  <a:pt x="952" y="1600"/>
                  <a:pt x="1200" y="1640"/>
                  <a:pt x="1352" y="1584"/>
                </a:cubicBezTo>
                <a:cubicBezTo>
                  <a:pt x="1504" y="1528"/>
                  <a:pt x="1640" y="1344"/>
                  <a:pt x="1688" y="1200"/>
                </a:cubicBezTo>
                <a:cubicBezTo>
                  <a:pt x="1736" y="1056"/>
                  <a:pt x="1696" y="864"/>
                  <a:pt x="1640" y="720"/>
                </a:cubicBezTo>
                <a:cubicBezTo>
                  <a:pt x="1584" y="576"/>
                  <a:pt x="1464" y="448"/>
                  <a:pt x="1352" y="336"/>
                </a:cubicBezTo>
                <a:cubicBezTo>
                  <a:pt x="1240" y="224"/>
                  <a:pt x="1104" y="96"/>
                  <a:pt x="968" y="48"/>
                </a:cubicBezTo>
                <a:cubicBezTo>
                  <a:pt x="832" y="0"/>
                  <a:pt x="640" y="24"/>
                  <a:pt x="536" y="48"/>
                </a:cubicBezTo>
                <a:cubicBezTo>
                  <a:pt x="432" y="72"/>
                  <a:pt x="432" y="112"/>
                  <a:pt x="344" y="192"/>
                </a:cubicBezTo>
                <a:close/>
              </a:path>
            </a:pathLst>
          </a:custGeom>
          <a:solidFill>
            <a:srgbClr val="A1DDD4"/>
          </a:solidFill>
          <a:ln w="9525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1465F4C-BF22-4543-AF21-B265740E398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58738"/>
            <a:ext cx="22098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2.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区域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8BD73903-04FA-4085-AAAC-D50993285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838200"/>
            <a:ext cx="4267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2800" b="1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ea typeface="楷体_GB2312" pitchFamily="49" charset="-122"/>
              </a:rPr>
              <a:t>(1)</a:t>
            </a:r>
            <a:r>
              <a:rPr kumimoji="1" lang="en-US" altLang="zh-CN" sz="2800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内点、外点、边界点</a:t>
            </a:r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E60E3EB4-448A-4E19-A2A5-14FBAC50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738" y="1433513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设有点集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及一点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:</a:t>
            </a:r>
            <a:endParaRPr kumimoji="1" lang="en-US" altLang="zh-CN" sz="2800">
              <a:solidFill>
                <a:srgbClr val="FF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6BB2B98B-D1F4-4E18-AB11-35DAB19E8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144713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若存在点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的某邻域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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C5B9D9B0-1B72-4226-A69F-A88DAF140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11467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若存在点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的某邻域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∩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=  ,</a:t>
            </a:r>
          </a:p>
        </p:txBody>
      </p:sp>
      <p:sp>
        <p:nvSpPr>
          <p:cNvPr id="58376" name="Text Box 8">
            <a:extLst>
              <a:ext uri="{FF2B5EF4-FFF2-40B4-BE49-F238E27FC236}">
                <a16:creationId xmlns:a16="http://schemas.microsoft.com/office/drawing/2014/main" id="{70AEA3DF-9B5F-4D4F-BB70-25EC6BBBD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88" y="4122738"/>
            <a:ext cx="830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若对点</a:t>
            </a:r>
            <a:r>
              <a:rPr kumimoji="1" lang="zh-CN" altLang="en-US" sz="2800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的任一邻域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既含</a:t>
            </a:r>
            <a:r>
              <a:rPr kumimoji="1" lang="zh-CN" altLang="en-US" sz="2800" dirty="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中的内点也含 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endParaRPr kumimoji="1" lang="en-US" altLang="zh-CN" sz="2800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58377" name="Object 9">
            <a:extLst>
              <a:ext uri="{FF2B5EF4-FFF2-40B4-BE49-F238E27FC236}">
                <a16:creationId xmlns:a16="http://schemas.microsoft.com/office/drawing/2014/main" id="{48781828-CD13-4C93-A245-56B04A165B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7588" y="741363"/>
          <a:ext cx="4905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34" imgH="145992" progId="Equation.DSMT4">
                  <p:embed/>
                </p:oleObj>
              </mc:Choice>
              <mc:Fallback>
                <p:oleObj name="Equation" r:id="rId2" imgW="133334" imgH="14599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7588" y="741363"/>
                        <a:ext cx="4905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8" name="Oval 10">
            <a:extLst>
              <a:ext uri="{FF2B5EF4-FFF2-40B4-BE49-F238E27FC236}">
                <a16:creationId xmlns:a16="http://schemas.microsoft.com/office/drawing/2014/main" id="{4B117256-C661-4876-926A-F16557ECA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1788" y="665163"/>
            <a:ext cx="503237" cy="503237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58379" name="Text Box 11">
            <a:extLst>
              <a:ext uri="{FF2B5EF4-FFF2-40B4-BE49-F238E27FC236}">
                <a16:creationId xmlns:a16="http://schemas.microsoft.com/office/drawing/2014/main" id="{6E42FCE8-EEC0-4D08-8C2F-62436EA4B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788" y="2101850"/>
            <a:ext cx="386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内点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58380" name="Text Box 12">
            <a:extLst>
              <a:ext uri="{FF2B5EF4-FFF2-40B4-BE49-F238E27FC236}">
                <a16:creationId xmlns:a16="http://schemas.microsoft.com/office/drawing/2014/main" id="{722C1BA9-5EFB-40D9-91A8-5F0F158CE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308610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外点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58381" name="Text Box 13">
            <a:extLst>
              <a:ext uri="{FF2B5EF4-FFF2-40B4-BE49-F238E27FC236}">
                <a16:creationId xmlns:a16="http://schemas.microsoft.com/office/drawing/2014/main" id="{4E2636A2-FDD6-43C4-A8F0-DC96D45E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09270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边界点</a:t>
            </a:r>
            <a:r>
              <a:rPr kumimoji="1"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8382" name="Text Box 14">
            <a:extLst>
              <a:ext uri="{FF2B5EF4-FFF2-40B4-BE49-F238E27FC236}">
                <a16:creationId xmlns:a16="http://schemas.microsoft.com/office/drawing/2014/main" id="{72B9759A-2C9D-4A6A-AAD9-146A61BC8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188" y="4102100"/>
            <a:ext cx="142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的外点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kumimoji="1" lang="en-US" altLang="zh-CN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383" name="Oval 15">
            <a:extLst>
              <a:ext uri="{FF2B5EF4-FFF2-40B4-BE49-F238E27FC236}">
                <a16:creationId xmlns:a16="http://schemas.microsoft.com/office/drawing/2014/main" id="{54F7A698-E341-4577-B7E5-74D524061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5625" y="887413"/>
            <a:ext cx="57150" cy="5715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2" name="Group 16">
            <a:extLst>
              <a:ext uri="{FF2B5EF4-FFF2-40B4-BE49-F238E27FC236}">
                <a16:creationId xmlns:a16="http://schemas.microsoft.com/office/drawing/2014/main" id="{756AE7C3-7C19-42CA-A0D2-A815875FC96B}"/>
              </a:ext>
            </a:extLst>
          </p:cNvPr>
          <p:cNvGrpSpPr>
            <a:grpSpLocks/>
          </p:cNvGrpSpPr>
          <p:nvPr/>
        </p:nvGrpSpPr>
        <p:grpSpPr bwMode="auto">
          <a:xfrm>
            <a:off x="9513888" y="1731963"/>
            <a:ext cx="503237" cy="503237"/>
            <a:chOff x="4512" y="1987"/>
            <a:chExt cx="317" cy="317"/>
          </a:xfrm>
        </p:grpSpPr>
        <p:sp>
          <p:nvSpPr>
            <p:cNvPr id="10260" name="Oval 17">
              <a:extLst>
                <a:ext uri="{FF2B5EF4-FFF2-40B4-BE49-F238E27FC236}">
                  <a16:creationId xmlns:a16="http://schemas.microsoft.com/office/drawing/2014/main" id="{986BD785-B081-4173-915B-81549A4B5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1987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261" name="Oval 18">
              <a:extLst>
                <a:ext uri="{FF2B5EF4-FFF2-40B4-BE49-F238E27FC236}">
                  <a16:creationId xmlns:a16="http://schemas.microsoft.com/office/drawing/2014/main" id="{F6B54E60-0768-4DBF-A5B2-B00816957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4" y="2135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CD874EF-5829-470F-B620-8AD5E15892A4}"/>
              </a:ext>
            </a:extLst>
          </p:cNvPr>
          <p:cNvGrpSpPr>
            <a:grpSpLocks/>
          </p:cNvGrpSpPr>
          <p:nvPr/>
        </p:nvGrpSpPr>
        <p:grpSpPr bwMode="auto">
          <a:xfrm>
            <a:off x="10306050" y="1457325"/>
            <a:ext cx="503238" cy="503238"/>
            <a:chOff x="5040" y="1728"/>
            <a:chExt cx="317" cy="317"/>
          </a:xfrm>
        </p:grpSpPr>
        <p:sp>
          <p:nvSpPr>
            <p:cNvPr id="10258" name="Oval 20">
              <a:extLst>
                <a:ext uri="{FF2B5EF4-FFF2-40B4-BE49-F238E27FC236}">
                  <a16:creationId xmlns:a16="http://schemas.microsoft.com/office/drawing/2014/main" id="{F5A01EA8-06C6-4E97-A61E-C21FBD7A4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0259" name="Oval 21">
              <a:extLst>
                <a:ext uri="{FF2B5EF4-FFF2-40B4-BE49-F238E27FC236}">
                  <a16:creationId xmlns:a16="http://schemas.microsoft.com/office/drawing/2014/main" id="{4A5074F1-48FA-4082-8C94-0B01C1560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8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autoUpdateAnimBg="0"/>
      <p:bldP spid="58373" grpId="0" autoUpdateAnimBg="0"/>
      <p:bldP spid="58374" grpId="0" autoUpdateAnimBg="0"/>
      <p:bldP spid="58375" grpId="0" autoUpdateAnimBg="0"/>
      <p:bldP spid="58376" grpId="0" autoUpdateAnimBg="0"/>
      <p:bldP spid="58378" grpId="0" animBg="1"/>
      <p:bldP spid="58379" grpId="0" autoUpdateAnimBg="0"/>
      <p:bldP spid="58380" grpId="0" autoUpdateAnimBg="0"/>
      <p:bldP spid="58381" grpId="0" autoUpdateAnimBg="0"/>
      <p:bldP spid="58382" grpId="0" build="p" autoUpdateAnimBg="0" advAuto="0"/>
      <p:bldP spid="5838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2">
            <a:extLst>
              <a:ext uri="{FF2B5EF4-FFF2-40B4-BE49-F238E27FC236}">
                <a16:creationId xmlns:a16="http://schemas.microsoft.com/office/drawing/2014/main" id="{A933A5DA-2A72-4C84-8E33-17FEE8FAC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139825"/>
            <a:ext cx="4762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）下说法正确的有（   ）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30C1C2FD-27D1-4278-9869-6F087D6C8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005013"/>
            <a:ext cx="443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的内点必属于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； </a:t>
            </a: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A229DF54-8663-4DAB-B1C0-968047440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652713"/>
            <a:ext cx="4589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的外点必不属于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</a:t>
            </a: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94AF1FFD-3FAE-4DDC-87C6-2D6D30A5A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3359150"/>
            <a:ext cx="7385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的边界点可能属于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也可能不属于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. </a:t>
            </a:r>
          </a:p>
        </p:txBody>
      </p:sp>
      <p:sp>
        <p:nvSpPr>
          <p:cNvPr id="11270" name="TextBox 67">
            <a:extLst>
              <a:ext uri="{FF2B5EF4-FFF2-40B4-BE49-F238E27FC236}">
                <a16:creationId xmlns:a16="http://schemas.microsoft.com/office/drawing/2014/main" id="{B684F7D3-3BC7-4429-8ADD-D133E39E7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963" y="1089025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/>
      <p:bldP spid="16" grpId="0" build="p" autoUpdateAnimBg="0"/>
      <p:bldP spid="17" grpId="0" build="p" autoUpdateAnimBg="0"/>
      <p:bldP spid="18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>
            <a:extLst>
              <a:ext uri="{FF2B5EF4-FFF2-40B4-BE49-F238E27FC236}">
                <a16:creationId xmlns:a16="http://schemas.microsoft.com/office/drawing/2014/main" id="{C826C405-4349-490C-8BA0-06250C5E98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0050" y="354013"/>
            <a:ext cx="22098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(2)</a:t>
            </a:r>
            <a:r>
              <a:rPr lang="en-US" altLang="zh-CN" sz="2800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聚点</a:t>
            </a:r>
            <a:endParaRPr lang="zh-CN" altLang="en-US" sz="2800" dirty="0">
              <a:solidFill>
                <a:schemeClr val="accent1">
                  <a:lumMod val="5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B1F6F95A-51D2-4293-9848-8B7F0E16C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4206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若对任意给定的</a:t>
            </a:r>
            <a:r>
              <a:rPr kumimoji="1" lang="zh-CN" altLang="en-US" sz="2800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 b="1" i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37663A91-BB9E-411D-8DCB-6EB55E0E1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3" y="4206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的去心</a:t>
            </a:r>
          </a:p>
        </p:txBody>
      </p:sp>
      <p:graphicFrame>
        <p:nvGraphicFramePr>
          <p:cNvPr id="61445" name="Object 5">
            <a:extLst>
              <a:ext uri="{FF2B5EF4-FFF2-40B4-BE49-F238E27FC236}">
                <a16:creationId xmlns:a16="http://schemas.microsoft.com/office/drawing/2014/main" id="{C2AA2949-C3C5-4714-BE7F-9F1077FDA9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1575" y="207963"/>
          <a:ext cx="131762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727" imgH="323677" progId="Equation.DSMT4">
                  <p:embed/>
                </p:oleObj>
              </mc:Choice>
              <mc:Fallback>
                <p:oleObj name="Equation" r:id="rId2" imgW="571727" imgH="32367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1575" y="207963"/>
                        <a:ext cx="1317625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1A09C45A-F9B8-4120-B5DE-9C26872FE2DD}"/>
              </a:ext>
            </a:extLst>
          </p:cNvPr>
          <p:cNvGrpSpPr>
            <a:grpSpLocks/>
          </p:cNvGrpSpPr>
          <p:nvPr/>
        </p:nvGrpSpPr>
        <p:grpSpPr bwMode="auto">
          <a:xfrm>
            <a:off x="6434138" y="1319213"/>
            <a:ext cx="2438400" cy="1295400"/>
            <a:chOff x="3696" y="480"/>
            <a:chExt cx="1536" cy="816"/>
          </a:xfrm>
        </p:grpSpPr>
        <p:sp>
          <p:nvSpPr>
            <p:cNvPr id="12310" name="Freeform 7">
              <a:extLst>
                <a:ext uri="{FF2B5EF4-FFF2-40B4-BE49-F238E27FC236}">
                  <a16:creationId xmlns:a16="http://schemas.microsoft.com/office/drawing/2014/main" id="{46503395-6506-4875-B763-219D5EA95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480"/>
              <a:ext cx="1536" cy="816"/>
            </a:xfrm>
            <a:custGeom>
              <a:avLst/>
              <a:gdLst>
                <a:gd name="T0" fmla="*/ 101 w 1736"/>
                <a:gd name="T1" fmla="*/ 0 h 1640"/>
                <a:gd name="T2" fmla="*/ 4 w 1736"/>
                <a:gd name="T3" fmla="*/ 0 h 1640"/>
                <a:gd name="T4" fmla="*/ 87 w 1736"/>
                <a:gd name="T5" fmla="*/ 1 h 1640"/>
                <a:gd name="T6" fmla="*/ 227 w 1736"/>
                <a:gd name="T7" fmla="*/ 1 h 1640"/>
                <a:gd name="T8" fmla="*/ 397 w 1736"/>
                <a:gd name="T9" fmla="*/ 1 h 1640"/>
                <a:gd name="T10" fmla="*/ 496 w 1736"/>
                <a:gd name="T11" fmla="*/ 1 h 1640"/>
                <a:gd name="T12" fmla="*/ 482 w 1736"/>
                <a:gd name="T13" fmla="*/ 0 h 1640"/>
                <a:gd name="T14" fmla="*/ 397 w 1736"/>
                <a:gd name="T15" fmla="*/ 0 h 1640"/>
                <a:gd name="T16" fmla="*/ 285 w 1736"/>
                <a:gd name="T17" fmla="*/ 0 h 1640"/>
                <a:gd name="T18" fmla="*/ 157 w 1736"/>
                <a:gd name="T19" fmla="*/ 0 h 1640"/>
                <a:gd name="T20" fmla="*/ 101 w 1736"/>
                <a:gd name="T21" fmla="*/ 0 h 1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36"/>
                <a:gd name="T34" fmla="*/ 0 h 1640"/>
                <a:gd name="T35" fmla="*/ 1736 w 1736"/>
                <a:gd name="T36" fmla="*/ 1640 h 1640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36" h="1640">
                  <a:moveTo>
                    <a:pt x="344" y="192"/>
                  </a:moveTo>
                  <a:cubicBezTo>
                    <a:pt x="256" y="272"/>
                    <a:pt x="16" y="360"/>
                    <a:pt x="8" y="528"/>
                  </a:cubicBezTo>
                  <a:cubicBezTo>
                    <a:pt x="0" y="696"/>
                    <a:pt x="168" y="1032"/>
                    <a:pt x="296" y="1200"/>
                  </a:cubicBezTo>
                  <a:cubicBezTo>
                    <a:pt x="424" y="1368"/>
                    <a:pt x="600" y="1472"/>
                    <a:pt x="776" y="1536"/>
                  </a:cubicBezTo>
                  <a:cubicBezTo>
                    <a:pt x="952" y="1600"/>
                    <a:pt x="1200" y="1640"/>
                    <a:pt x="1352" y="1584"/>
                  </a:cubicBezTo>
                  <a:cubicBezTo>
                    <a:pt x="1504" y="1528"/>
                    <a:pt x="1640" y="1344"/>
                    <a:pt x="1688" y="1200"/>
                  </a:cubicBezTo>
                  <a:cubicBezTo>
                    <a:pt x="1736" y="1056"/>
                    <a:pt x="1696" y="864"/>
                    <a:pt x="1640" y="720"/>
                  </a:cubicBezTo>
                  <a:cubicBezTo>
                    <a:pt x="1584" y="576"/>
                    <a:pt x="1464" y="448"/>
                    <a:pt x="1352" y="336"/>
                  </a:cubicBezTo>
                  <a:cubicBezTo>
                    <a:pt x="1240" y="224"/>
                    <a:pt x="1104" y="96"/>
                    <a:pt x="968" y="48"/>
                  </a:cubicBezTo>
                  <a:cubicBezTo>
                    <a:pt x="832" y="0"/>
                    <a:pt x="640" y="24"/>
                    <a:pt x="536" y="48"/>
                  </a:cubicBezTo>
                  <a:cubicBezTo>
                    <a:pt x="432" y="72"/>
                    <a:pt x="432" y="112"/>
                    <a:pt x="344" y="192"/>
                  </a:cubicBezTo>
                  <a:close/>
                </a:path>
              </a:pathLst>
            </a:custGeom>
            <a:solidFill>
              <a:srgbClr val="A1DDD4"/>
            </a:solidFill>
            <a:ln w="9525">
              <a:solidFill>
                <a:srgbClr val="00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11" name="Object 8">
              <a:extLst>
                <a:ext uri="{FF2B5EF4-FFF2-40B4-BE49-F238E27FC236}">
                  <a16:creationId xmlns:a16="http://schemas.microsoft.com/office/drawing/2014/main" id="{601CC7A4-DA53-4864-80D4-8C8FDE2925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2" y="672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33334" imgH="145992" progId="Equation.3">
                    <p:embed/>
                  </p:oleObj>
                </mc:Choice>
                <mc:Fallback>
                  <p:oleObj name="公式" r:id="rId4" imgW="133334" imgH="145992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672"/>
                          <a:ext cx="30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7427FE26-63E2-4B49-8A13-13F6AA0E2BFE}"/>
              </a:ext>
            </a:extLst>
          </p:cNvPr>
          <p:cNvGrpSpPr>
            <a:grpSpLocks/>
          </p:cNvGrpSpPr>
          <p:nvPr/>
        </p:nvGrpSpPr>
        <p:grpSpPr bwMode="auto">
          <a:xfrm>
            <a:off x="8064500" y="2319338"/>
            <a:ext cx="503238" cy="501650"/>
            <a:chOff x="5040" y="1728"/>
            <a:chExt cx="317" cy="317"/>
          </a:xfrm>
        </p:grpSpPr>
        <p:sp>
          <p:nvSpPr>
            <p:cNvPr id="12308" name="Oval 10">
              <a:extLst>
                <a:ext uri="{FF2B5EF4-FFF2-40B4-BE49-F238E27FC236}">
                  <a16:creationId xmlns:a16="http://schemas.microsoft.com/office/drawing/2014/main" id="{55608C26-2C74-46C1-BD8E-5E94F53C4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09" name="Oval 11">
              <a:extLst>
                <a:ext uri="{FF2B5EF4-FFF2-40B4-BE49-F238E27FC236}">
                  <a16:creationId xmlns:a16="http://schemas.microsoft.com/office/drawing/2014/main" id="{71FBF8B2-F9FA-4DA5-825E-B3DA26B13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61452" name="Text Box 12">
            <a:extLst>
              <a:ext uri="{FF2B5EF4-FFF2-40B4-BE49-F238E27FC236}">
                <a16:creationId xmlns:a16="http://schemas.microsoft.com/office/drawing/2014/main" id="{D9E32D93-DBA0-437C-923C-F30E68CB2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414338"/>
            <a:ext cx="89535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邻域</a:t>
            </a:r>
          </a:p>
        </p:txBody>
      </p:sp>
      <p:sp>
        <p:nvSpPr>
          <p:cNvPr id="61453" name="Text Box 13">
            <a:extLst>
              <a:ext uri="{FF2B5EF4-FFF2-40B4-BE49-F238E27FC236}">
                <a16:creationId xmlns:a16="http://schemas.microsoft.com/office/drawing/2014/main" id="{0441039C-EFF3-4692-8B7B-15286751B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5538" y="446088"/>
            <a:ext cx="2890837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内总有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中的点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61454" name="Text Box 14">
            <a:extLst>
              <a:ext uri="{FF2B5EF4-FFF2-40B4-BE49-F238E27FC236}">
                <a16:creationId xmlns:a16="http://schemas.microsoft.com/office/drawing/2014/main" id="{246E3B31-D848-408A-BC39-AD19D161F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6200" y="414338"/>
            <a:ext cx="53975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</p:txBody>
      </p:sp>
      <p:sp>
        <p:nvSpPr>
          <p:cNvPr id="61455" name="Text Box 15">
            <a:extLst>
              <a:ext uri="{FF2B5EF4-FFF2-40B4-BE49-F238E27FC236}">
                <a16:creationId xmlns:a16="http://schemas.microsoft.com/office/drawing/2014/main" id="{B65CE09F-8359-4661-954F-83C17142F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538" y="1016000"/>
            <a:ext cx="2870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聚点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1456" name="Text Box 16">
            <a:extLst>
              <a:ext uri="{FF2B5EF4-FFF2-40B4-BE49-F238E27FC236}">
                <a16:creationId xmlns:a16="http://schemas.microsoft.com/office/drawing/2014/main" id="{995E221E-FC18-4B9C-9C10-C0E5F7656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52775"/>
            <a:ext cx="541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聚点可以属于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也可以不属于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 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57" name="Text Box 17">
            <a:extLst>
              <a:ext uri="{FF2B5EF4-FFF2-40B4-BE49-F238E27FC236}">
                <a16:creationId xmlns:a16="http://schemas.microsoft.com/office/drawing/2014/main" id="{96E5D925-2928-4BC1-B6F9-328815B92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1450" y="3138488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因为聚点可以为 </a:t>
            </a:r>
          </a:p>
        </p:txBody>
      </p:sp>
      <p:sp>
        <p:nvSpPr>
          <p:cNvPr id="61458" name="Text Box 18">
            <a:extLst>
              <a:ext uri="{FF2B5EF4-FFF2-40B4-BE49-F238E27FC236}">
                <a16:creationId xmlns:a16="http://schemas.microsoft.com/office/drawing/2014/main" id="{0B351645-835B-4A46-B178-0F7C27C82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3968750"/>
            <a:ext cx="57927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所有聚点所成的点集成为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导集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1459" name="Oval 19">
            <a:extLst>
              <a:ext uri="{FF2B5EF4-FFF2-40B4-BE49-F238E27FC236}">
                <a16:creationId xmlns:a16="http://schemas.microsoft.com/office/drawing/2014/main" id="{BE9073B1-7DAE-4114-80D2-494F13071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538" y="1776413"/>
            <a:ext cx="503237" cy="50165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61460" name="Oval 20">
            <a:extLst>
              <a:ext uri="{FF2B5EF4-FFF2-40B4-BE49-F238E27FC236}">
                <a16:creationId xmlns:a16="http://schemas.microsoft.com/office/drawing/2014/main" id="{C931B130-F875-40F0-ADAF-B3D9C26D8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8" y="2005013"/>
            <a:ext cx="5715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61461" name="Text Box 21">
            <a:extLst>
              <a:ext uri="{FF2B5EF4-FFF2-40B4-BE49-F238E27FC236}">
                <a16:creationId xmlns:a16="http://schemas.microsoft.com/office/drawing/2014/main" id="{4A111250-64AC-4AFE-89C5-47B1E23D6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0513" y="3124200"/>
            <a:ext cx="212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的边界点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</p:txBody>
      </p:sp>
      <p:sp>
        <p:nvSpPr>
          <p:cNvPr id="61462" name="Text Box 22">
            <a:extLst>
              <a:ext uri="{FF2B5EF4-FFF2-40B4-BE49-F238E27FC236}">
                <a16:creationId xmlns:a16="http://schemas.microsoft.com/office/drawing/2014/main" id="{8CBF2F71-444E-4094-807E-97B5372E5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638" y="4872038"/>
            <a:ext cx="3284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孤立点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61463" name="Object 23">
            <a:extLst>
              <a:ext uri="{FF2B5EF4-FFF2-40B4-BE49-F238E27FC236}">
                <a16:creationId xmlns:a16="http://schemas.microsoft.com/office/drawing/2014/main" id="{D265647D-188B-4AEE-B798-F533453FF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1750" y="4914900"/>
          <a:ext cx="46450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35200" imgH="241300" progId="Equation.DSMT4">
                  <p:embed/>
                </p:oleObj>
              </mc:Choice>
              <mc:Fallback>
                <p:oleObj name="Equation" r:id="rId6" imgW="2235200" imgH="2413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1750" y="4914900"/>
                        <a:ext cx="46450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14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4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6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1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1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autoUpdateAnimBg="0"/>
      <p:bldP spid="61444" grpId="0" autoUpdateAnimBg="0"/>
      <p:bldP spid="61452" grpId="0" build="p" autoUpdateAnimBg="0" advAuto="0"/>
      <p:bldP spid="61453" grpId="0" build="p" autoUpdateAnimBg="0" advAuto="0"/>
      <p:bldP spid="61454" grpId="0" build="p" autoUpdateAnimBg="0"/>
      <p:bldP spid="61455" grpId="0" build="p" autoUpdateAnimBg="0" advAuto="0"/>
      <p:bldP spid="61456" grpId="0" build="p" autoUpdateAnimBg="0"/>
      <p:bldP spid="61457" grpId="0" build="p" autoUpdateAnimBg="0"/>
      <p:bldP spid="61458" grpId="0" build="p" autoUpdateAnimBg="0"/>
      <p:bldP spid="61459" grpId="0" animBg="1"/>
      <p:bldP spid="61460" grpId="0" animBg="1"/>
      <p:bldP spid="61461" grpId="0" build="p" autoUpdateAnimBg="0" advAuto="0"/>
      <p:bldP spid="61462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4EF82128-5D97-47ED-8A7F-0A8EE593F0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250"/>
            <a:ext cx="6446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）下面点可以成为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的聚点的是（）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C21E9E75-1A52-4B68-B695-33F0E7725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1628775"/>
            <a:ext cx="1863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）内点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96E4E2A4-F3C6-4D57-B837-637C26B3A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628775"/>
            <a:ext cx="1843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）外点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DC9A02A8-B734-41CB-8E45-624F024DC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2492375"/>
            <a:ext cx="2198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）边界点</a:t>
            </a:r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83EC3ACB-4DDB-467E-9258-087C48E8F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2492375"/>
            <a:ext cx="3641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）非孤立的边界点</a:t>
            </a:r>
          </a:p>
        </p:txBody>
      </p:sp>
      <p:sp>
        <p:nvSpPr>
          <p:cNvPr id="13319" name="TextBox 69">
            <a:extLst>
              <a:ext uri="{FF2B5EF4-FFF2-40B4-BE49-F238E27FC236}">
                <a16:creationId xmlns:a16="http://schemas.microsoft.com/office/drawing/2014/main" id="{2079300F-5E91-443C-99A0-8CDA36122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476250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build="p" autoUpdateAnimBg="0"/>
      <p:bldP spid="62467" grpId="0" build="p" autoUpdateAnimBg="0"/>
      <p:bldP spid="62468" grpId="0" build="p" autoUpdateAnimBg="0"/>
      <p:bldP spid="62469" grpId="0" build="p" autoUpdateAnimBg="0"/>
      <p:bldP spid="62470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BBA0533-2046-49D0-B1A9-46186E446718}"/>
              </a:ext>
            </a:extLst>
          </p:cNvPr>
          <p:cNvGrpSpPr>
            <a:grpSpLocks/>
          </p:cNvGrpSpPr>
          <p:nvPr/>
        </p:nvGrpSpPr>
        <p:grpSpPr bwMode="auto">
          <a:xfrm>
            <a:off x="8445500" y="3733800"/>
            <a:ext cx="1765300" cy="1676400"/>
            <a:chOff x="4480" y="2664"/>
            <a:chExt cx="1112" cy="1056"/>
          </a:xfrm>
        </p:grpSpPr>
        <p:sp>
          <p:nvSpPr>
            <p:cNvPr id="15373" name="Freeform 3">
              <a:extLst>
                <a:ext uri="{FF2B5EF4-FFF2-40B4-BE49-F238E27FC236}">
                  <a16:creationId xmlns:a16="http://schemas.microsoft.com/office/drawing/2014/main" id="{C9E420BE-6C44-4277-8522-CEA3FD743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664"/>
              <a:ext cx="1112" cy="1056"/>
            </a:xfrm>
            <a:custGeom>
              <a:avLst/>
              <a:gdLst>
                <a:gd name="T0" fmla="*/ 32 w 1112"/>
                <a:gd name="T1" fmla="*/ 456 h 1056"/>
                <a:gd name="T2" fmla="*/ 224 w 1112"/>
                <a:gd name="T3" fmla="*/ 168 h 1056"/>
                <a:gd name="T4" fmla="*/ 704 w 1112"/>
                <a:gd name="T5" fmla="*/ 24 h 1056"/>
                <a:gd name="T6" fmla="*/ 944 w 1112"/>
                <a:gd name="T7" fmla="*/ 312 h 1056"/>
                <a:gd name="T8" fmla="*/ 1040 w 1112"/>
                <a:gd name="T9" fmla="*/ 792 h 1056"/>
                <a:gd name="T10" fmla="*/ 512 w 1112"/>
                <a:gd name="T11" fmla="*/ 1032 h 1056"/>
                <a:gd name="T12" fmla="*/ 80 w 1112"/>
                <a:gd name="T13" fmla="*/ 936 h 1056"/>
                <a:gd name="T14" fmla="*/ 32 w 1112"/>
                <a:gd name="T15" fmla="*/ 696 h 1056"/>
                <a:gd name="T16" fmla="*/ 32 w 1112"/>
                <a:gd name="T17" fmla="*/ 456 h 10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12"/>
                <a:gd name="T28" fmla="*/ 0 h 1056"/>
                <a:gd name="T29" fmla="*/ 1112 w 1112"/>
                <a:gd name="T30" fmla="*/ 1056 h 105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12" h="1056">
                  <a:moveTo>
                    <a:pt x="32" y="456"/>
                  </a:moveTo>
                  <a:cubicBezTo>
                    <a:pt x="64" y="368"/>
                    <a:pt x="112" y="240"/>
                    <a:pt x="224" y="168"/>
                  </a:cubicBezTo>
                  <a:cubicBezTo>
                    <a:pt x="336" y="96"/>
                    <a:pt x="584" y="0"/>
                    <a:pt x="704" y="24"/>
                  </a:cubicBezTo>
                  <a:cubicBezTo>
                    <a:pt x="824" y="48"/>
                    <a:pt x="888" y="184"/>
                    <a:pt x="944" y="312"/>
                  </a:cubicBezTo>
                  <a:cubicBezTo>
                    <a:pt x="1000" y="440"/>
                    <a:pt x="1112" y="672"/>
                    <a:pt x="1040" y="792"/>
                  </a:cubicBezTo>
                  <a:cubicBezTo>
                    <a:pt x="968" y="912"/>
                    <a:pt x="672" y="1008"/>
                    <a:pt x="512" y="1032"/>
                  </a:cubicBezTo>
                  <a:cubicBezTo>
                    <a:pt x="352" y="1056"/>
                    <a:pt x="160" y="992"/>
                    <a:pt x="80" y="936"/>
                  </a:cubicBezTo>
                  <a:cubicBezTo>
                    <a:pt x="0" y="880"/>
                    <a:pt x="40" y="784"/>
                    <a:pt x="32" y="696"/>
                  </a:cubicBezTo>
                  <a:cubicBezTo>
                    <a:pt x="24" y="608"/>
                    <a:pt x="0" y="544"/>
                    <a:pt x="32" y="45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74" name="Oval 4">
              <a:extLst>
                <a:ext uri="{FF2B5EF4-FFF2-40B4-BE49-F238E27FC236}">
                  <a16:creationId xmlns:a16="http://schemas.microsoft.com/office/drawing/2014/main" id="{C97C398F-C638-46D5-A9B4-BE817332B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3264"/>
              <a:ext cx="192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5375" name="Text Box 5">
              <a:extLst>
                <a:ext uri="{FF2B5EF4-FFF2-40B4-BE49-F238E27FC236}">
                  <a16:creationId xmlns:a16="http://schemas.microsoft.com/office/drawing/2014/main" id="{352785A3-7D53-4C0B-BDDA-B897D60BE8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688"/>
              <a:ext cx="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b="1" i="1">
                  <a:solidFill>
                    <a:srgbClr val="CC00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D</a:t>
              </a:r>
              <a:endPara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</p:grpSp>
      <p:sp>
        <p:nvSpPr>
          <p:cNvPr id="33795" name="Rectangle 6">
            <a:extLst>
              <a:ext uri="{FF2B5EF4-FFF2-40B4-BE49-F238E27FC236}">
                <a16:creationId xmlns:a16="http://schemas.microsoft.com/office/drawing/2014/main" id="{E3E30685-32B6-4B0F-A86B-ABCE9147C3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122238"/>
            <a:ext cx="47244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(3) 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开区域及闭区域</a:t>
            </a:r>
          </a:p>
        </p:txBody>
      </p:sp>
      <p:sp>
        <p:nvSpPr>
          <p:cNvPr id="64519" name="Text Box 7">
            <a:extLst>
              <a:ext uri="{FF2B5EF4-FFF2-40B4-BE49-F238E27FC236}">
                <a16:creationId xmlns:a16="http://schemas.microsoft.com/office/drawing/2014/main" id="{CD5841B7-22FD-4E65-8F38-526B3883B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765175"/>
            <a:ext cx="738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若点集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的点都是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内点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开集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64520" name="Text Box 8">
            <a:extLst>
              <a:ext uri="{FF2B5EF4-FFF2-40B4-BE49-F238E27FC236}">
                <a16:creationId xmlns:a16="http://schemas.microsoft.com/office/drawing/2014/main" id="{AD576409-4A82-49A7-A308-95FB9BEE6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0605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若点集 </a:t>
            </a:r>
            <a:r>
              <a:rPr kumimoji="1" lang="en-US" altLang="zh-CN" sz="2800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</a:t>
            </a:r>
            <a:r>
              <a:rPr kumimoji="1" lang="en-US" altLang="zh-CN" sz="2800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闭集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</p:txBody>
      </p:sp>
      <p:sp>
        <p:nvSpPr>
          <p:cNvPr id="64521" name="Text Box 9">
            <a:extLst>
              <a:ext uri="{FF2B5EF4-FFF2-40B4-BE49-F238E27FC236}">
                <a16:creationId xmlns:a16="http://schemas.microsoft.com/office/drawing/2014/main" id="{A36C1CA8-BD50-4B37-BF24-2BF7E0FA6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2636838"/>
            <a:ext cx="868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>
                <a:solidFill>
                  <a:srgbClr val="66FF33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若集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中任意两点都可用一完全属于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的折线相连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  <p:sp>
        <p:nvSpPr>
          <p:cNvPr id="64522" name="Text Box 10">
            <a:extLst>
              <a:ext uri="{FF2B5EF4-FFF2-40B4-BE49-F238E27FC236}">
                <a16:creationId xmlns:a16="http://schemas.microsoft.com/office/drawing/2014/main" id="{9485C8A8-039A-4306-80FF-0D30D3301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36562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开区域连同它的边界一起称为</a:t>
            </a:r>
            <a:r>
              <a:rPr kumimoji="1" lang="zh-CN" altLang="en-US" sz="2800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闭区域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4523" name="Freeform 11">
            <a:extLst>
              <a:ext uri="{FF2B5EF4-FFF2-40B4-BE49-F238E27FC236}">
                <a16:creationId xmlns:a16="http://schemas.microsoft.com/office/drawing/2014/main" id="{04324296-5F1A-4069-A803-AE669BE5BCCC}"/>
              </a:ext>
            </a:extLst>
          </p:cNvPr>
          <p:cNvSpPr>
            <a:spLocks/>
          </p:cNvSpPr>
          <p:nvPr/>
        </p:nvSpPr>
        <p:spPr bwMode="auto">
          <a:xfrm>
            <a:off x="8750300" y="4267200"/>
            <a:ext cx="990600" cy="609600"/>
          </a:xfrm>
          <a:custGeom>
            <a:avLst/>
            <a:gdLst>
              <a:gd name="T0" fmla="*/ 0 w 624"/>
              <a:gd name="T1" fmla="*/ 2147483646 h 384"/>
              <a:gd name="T2" fmla="*/ 2147483646 w 624"/>
              <a:gd name="T3" fmla="*/ 2147483646 h 384"/>
              <a:gd name="T4" fmla="*/ 2147483646 w 624"/>
              <a:gd name="T5" fmla="*/ 0 h 384"/>
              <a:gd name="T6" fmla="*/ 2147483646 w 624"/>
              <a:gd name="T7" fmla="*/ 2147483646 h 384"/>
              <a:gd name="T8" fmla="*/ 2147483646 w 624"/>
              <a:gd name="T9" fmla="*/ 2147483646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4"/>
              <a:gd name="T16" fmla="*/ 0 h 384"/>
              <a:gd name="T17" fmla="*/ 624 w 624"/>
              <a:gd name="T18" fmla="*/ 384 h 3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4" h="384">
                <a:moveTo>
                  <a:pt x="0" y="384"/>
                </a:moveTo>
                <a:lnTo>
                  <a:pt x="96" y="96"/>
                </a:lnTo>
                <a:lnTo>
                  <a:pt x="384" y="0"/>
                </a:lnTo>
                <a:lnTo>
                  <a:pt x="624" y="48"/>
                </a:lnTo>
                <a:lnTo>
                  <a:pt x="624" y="384"/>
                </a:lnTo>
              </a:path>
            </a:pathLst>
          </a:custGeom>
          <a:noFill/>
          <a:ln w="28575" cmpd="sng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524" name="Text Box 12">
            <a:extLst>
              <a:ext uri="{FF2B5EF4-FFF2-40B4-BE49-F238E27FC236}">
                <a16:creationId xmlns:a16="http://schemas.microsoft.com/office/drawing/2014/main" id="{D312EB57-1565-4A13-AC07-7A608CCA8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18293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则称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连通的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4525" name="Text Box 13">
            <a:extLst>
              <a:ext uri="{FF2B5EF4-FFF2-40B4-BE49-F238E27FC236}">
                <a16:creationId xmlns:a16="http://schemas.microsoft.com/office/drawing/2014/main" id="{BBD20C11-4E1F-47D7-9D66-D0F9A8E9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716338"/>
            <a:ext cx="604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kumimoji="1" lang="en-US" altLang="zh-CN" sz="2800">
                <a:solidFill>
                  <a:srgbClr val="66FF33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连通的开集称为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开区域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简称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区域</a:t>
            </a:r>
            <a:r>
              <a:rPr kumimoji="1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64526" name="Text Box 14">
            <a:extLst>
              <a:ext uri="{FF2B5EF4-FFF2-40B4-BE49-F238E27FC236}">
                <a16:creationId xmlns:a16="http://schemas.microsoft.com/office/drawing/2014/main" id="{E256DAB0-AF72-4D0D-83B9-F73972A79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325" y="4495800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仿宋_GB2312" pitchFamily="49" charset="-122"/>
              </a:rPr>
              <a:t>。       。</a:t>
            </a:r>
          </a:p>
        </p:txBody>
      </p:sp>
      <p:sp>
        <p:nvSpPr>
          <p:cNvPr id="64527" name="Text Box 15">
            <a:extLst>
              <a:ext uri="{FF2B5EF4-FFF2-40B4-BE49-F238E27FC236}">
                <a16:creationId xmlns:a16="http://schemas.microsoft.com/office/drawing/2014/main" id="{438D793C-C637-419E-936E-B2F1D531C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412875"/>
            <a:ext cx="718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的边界点的全体称为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边界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</a:t>
            </a:r>
            <a:r>
              <a:rPr kumimoji="1" lang="en-US" altLang="zh-CN" sz="2800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;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 autoUpdateAnimBg="0"/>
      <p:bldP spid="64520" grpId="0" autoUpdateAnimBg="0"/>
      <p:bldP spid="64521" grpId="0" build="p" autoUpdateAnimBg="0"/>
      <p:bldP spid="64522" grpId="0" build="p" autoUpdateAnimBg="0"/>
      <p:bldP spid="64524" grpId="0" autoUpdateAnimBg="0"/>
      <p:bldP spid="64525" grpId="0" autoUpdateAnimBg="0"/>
      <p:bldP spid="64526" grpId="0" autoUpdateAnimBg="0"/>
      <p:bldP spid="6452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084B6BD5-FE51-43B6-AABF-DE6CBE85F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1538288"/>
            <a:ext cx="4762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）下说法正确的有（   ）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F834E405-3F65-4092-95A2-D6BE49D857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100" y="2473325"/>
            <a:ext cx="3819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闭区域是区域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； 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BE7DE2EB-F579-4AC3-ACF7-72A7A583F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3121025"/>
            <a:ext cx="5932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一个集合不是开集就是闭集。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6389" name="TextBox 67">
            <a:extLst>
              <a:ext uri="{FF2B5EF4-FFF2-40B4-BE49-F238E27FC236}">
                <a16:creationId xmlns:a16="http://schemas.microsoft.com/office/drawing/2014/main" id="{5D368DEA-F235-4241-9802-D1FEF9A5D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2213" y="1538288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utoUpdateAnimBg="0"/>
      <p:bldP spid="13" grpId="0" build="p" autoUpdateAnimBg="0"/>
      <p:bldP spid="14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F9FA826-C9DC-4BE1-B72F-0722BC1625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2413" y="231775"/>
            <a:ext cx="3276600" cy="6096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例如，</a:t>
            </a:r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在平面上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67587" name="Object 3">
            <a:extLst>
              <a:ext uri="{FF2B5EF4-FFF2-40B4-BE49-F238E27FC236}">
                <a16:creationId xmlns:a16="http://schemas.microsoft.com/office/drawing/2014/main" id="{D51C67B2-AB98-4016-829D-E20106B1B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1130300"/>
          <a:ext cx="279558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0450" imgH="450965" progId="Equation.3">
                  <p:embed/>
                </p:oleObj>
              </mc:Choice>
              <mc:Fallback>
                <p:oleObj name="Equation" r:id="rId3" imgW="2660450" imgH="45096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1130300"/>
                        <a:ext cx="2795587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8" name="Object 4">
            <a:extLst>
              <a:ext uri="{FF2B5EF4-FFF2-40B4-BE49-F238E27FC236}">
                <a16:creationId xmlns:a16="http://schemas.microsoft.com/office/drawing/2014/main" id="{12E807D6-5F71-4491-9AFE-1028A09B8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8" y="1781175"/>
          <a:ext cx="36830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5070" imgH="514350" progId="Equation.3">
                  <p:embed/>
                </p:oleObj>
              </mc:Choice>
              <mc:Fallback>
                <p:oleObj name="Equation" r:id="rId5" imgW="3505070" imgH="51435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1781175"/>
                        <a:ext cx="36830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>
            <a:extLst>
              <a:ext uri="{FF2B5EF4-FFF2-40B4-BE49-F238E27FC236}">
                <a16:creationId xmlns:a16="http://schemas.microsoft.com/office/drawing/2014/main" id="{6A3755AB-72EC-4057-8C62-F3CC1F131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3267075"/>
          <a:ext cx="26908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52538" imgH="450965" progId="Equation.3">
                  <p:embed/>
                </p:oleObj>
              </mc:Choice>
              <mc:Fallback>
                <p:oleObj name="Equation" r:id="rId7" imgW="2552538" imgH="4509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3267075"/>
                        <a:ext cx="269081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>
            <a:extLst>
              <a:ext uri="{FF2B5EF4-FFF2-40B4-BE49-F238E27FC236}">
                <a16:creationId xmlns:a16="http://schemas.microsoft.com/office/drawing/2014/main" id="{4D92E14E-C8A8-4D34-8AA1-4A5D760B6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3935413"/>
          <a:ext cx="36830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05070" imgH="514350" progId="Equation.3">
                  <p:embed/>
                </p:oleObj>
              </mc:Choice>
              <mc:Fallback>
                <p:oleObj name="Equation" r:id="rId9" imgW="3505070" imgH="5143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3935413"/>
                        <a:ext cx="36830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>
            <a:extLst>
              <a:ext uri="{FF2B5EF4-FFF2-40B4-BE49-F238E27FC236}">
                <a16:creationId xmlns:a16="http://schemas.microsoft.com/office/drawing/2014/main" id="{635CD8F2-98EF-4931-B39E-D638A87BE06D}"/>
              </a:ext>
            </a:extLst>
          </p:cNvPr>
          <p:cNvGrpSpPr>
            <a:grpSpLocks/>
          </p:cNvGrpSpPr>
          <p:nvPr/>
        </p:nvGrpSpPr>
        <p:grpSpPr bwMode="auto">
          <a:xfrm>
            <a:off x="4313238" y="1182688"/>
            <a:ext cx="161925" cy="762000"/>
            <a:chOff x="3120" y="912"/>
            <a:chExt cx="102" cy="480"/>
          </a:xfrm>
        </p:grpSpPr>
        <p:sp>
          <p:nvSpPr>
            <p:cNvPr id="17481" name="Line 8">
              <a:extLst>
                <a:ext uri="{FF2B5EF4-FFF2-40B4-BE49-F238E27FC236}">
                  <a16:creationId xmlns:a16="http://schemas.microsoft.com/office/drawing/2014/main" id="{20E19308-8F36-4AEB-86E9-6743191BF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2" name="Line 9">
              <a:extLst>
                <a:ext uri="{FF2B5EF4-FFF2-40B4-BE49-F238E27FC236}">
                  <a16:creationId xmlns:a16="http://schemas.microsoft.com/office/drawing/2014/main" id="{B92D57B7-11D1-4424-BFFE-0E867A718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3" name="Line 10">
              <a:extLst>
                <a:ext uri="{FF2B5EF4-FFF2-40B4-BE49-F238E27FC236}">
                  <a16:creationId xmlns:a16="http://schemas.microsoft.com/office/drawing/2014/main" id="{C840B751-5352-4507-97B6-943DCB730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595" name="Text Box 11">
            <a:extLst>
              <a:ext uri="{FF2B5EF4-FFF2-40B4-BE49-F238E27FC236}">
                <a16:creationId xmlns:a16="http://schemas.microsoft.com/office/drawing/2014/main" id="{6E36920A-299F-43C6-891B-F980500E6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5638" y="12588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开区域</a:t>
            </a:r>
          </a:p>
        </p:txBody>
      </p:sp>
      <p:sp>
        <p:nvSpPr>
          <p:cNvPr id="67596" name="Text Box 12">
            <a:extLst>
              <a:ext uri="{FF2B5EF4-FFF2-40B4-BE49-F238E27FC236}">
                <a16:creationId xmlns:a16="http://schemas.microsoft.com/office/drawing/2014/main" id="{FEDACB94-24A6-437C-859C-40DD8C468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7563" y="3471863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闭区域</a:t>
            </a:r>
          </a:p>
        </p:txBody>
      </p:sp>
      <p:sp>
        <p:nvSpPr>
          <p:cNvPr id="67597" name="Text Box 13">
            <a:extLst>
              <a:ext uri="{FF2B5EF4-FFF2-40B4-BE49-F238E27FC236}">
                <a16:creationId xmlns:a16="http://schemas.microsoft.com/office/drawing/2014/main" id="{46704030-9039-4C59-BD9F-369F09EE6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0302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67598" name="Text Box 14">
            <a:extLst>
              <a:ext uri="{FF2B5EF4-FFF2-40B4-BE49-F238E27FC236}">
                <a16:creationId xmlns:a16="http://schemas.microsoft.com/office/drawing/2014/main" id="{578D47F4-3D23-4F05-819F-FA3E30F5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3" y="1716088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67599" name="Text Box 15">
            <a:extLst>
              <a:ext uri="{FF2B5EF4-FFF2-40B4-BE49-F238E27FC236}">
                <a16:creationId xmlns:a16="http://schemas.microsoft.com/office/drawing/2014/main" id="{76C380F4-E0F0-4095-90EA-535334416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3167063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67600" name="Text Box 16">
            <a:extLst>
              <a:ext uri="{FF2B5EF4-FFF2-40B4-BE49-F238E27FC236}">
                <a16:creationId xmlns:a16="http://schemas.microsoft.com/office/drawing/2014/main" id="{BF39CB67-1C5A-4598-BB39-1376B4FF0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394335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8C90DF70-6823-4187-9EAE-C2AF1CA13854}"/>
              </a:ext>
            </a:extLst>
          </p:cNvPr>
          <p:cNvGrpSpPr>
            <a:grpSpLocks/>
          </p:cNvGrpSpPr>
          <p:nvPr/>
        </p:nvGrpSpPr>
        <p:grpSpPr bwMode="auto">
          <a:xfrm>
            <a:off x="4475163" y="3395663"/>
            <a:ext cx="161925" cy="762000"/>
            <a:chOff x="3120" y="912"/>
            <a:chExt cx="102" cy="480"/>
          </a:xfrm>
        </p:grpSpPr>
        <p:sp>
          <p:nvSpPr>
            <p:cNvPr id="17478" name="Line 18">
              <a:extLst>
                <a:ext uri="{FF2B5EF4-FFF2-40B4-BE49-F238E27FC236}">
                  <a16:creationId xmlns:a16="http://schemas.microsoft.com/office/drawing/2014/main" id="{5EEEDFD1-CB29-4050-ABB0-D41062720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9" name="Line 19">
              <a:extLst>
                <a:ext uri="{FF2B5EF4-FFF2-40B4-BE49-F238E27FC236}">
                  <a16:creationId xmlns:a16="http://schemas.microsoft.com/office/drawing/2014/main" id="{DB4795F5-FCC1-45F6-947D-EFC799318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0" name="Line 20">
              <a:extLst>
                <a:ext uri="{FF2B5EF4-FFF2-40B4-BE49-F238E27FC236}">
                  <a16:creationId xmlns:a16="http://schemas.microsoft.com/office/drawing/2014/main" id="{1A5A19C1-5ECE-4AC2-AD64-BAAABDAB5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7605" name="Line 21">
            <a:extLst>
              <a:ext uri="{FF2B5EF4-FFF2-40B4-BE49-F238E27FC236}">
                <a16:creationId xmlns:a16="http://schemas.microsoft.com/office/drawing/2014/main" id="{73C185D0-8AFA-480E-AF66-B26B6E94220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0138" y="1096963"/>
            <a:ext cx="1419225" cy="1420812"/>
          </a:xfrm>
          <a:prstGeom prst="line">
            <a:avLst/>
          </a:prstGeom>
          <a:noFill/>
          <a:ln w="28575">
            <a:solidFill>
              <a:srgbClr val="CC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F001577D-0E6A-4B2B-8D8F-8CCFCB5C0A5A}"/>
              </a:ext>
            </a:extLst>
          </p:cNvPr>
          <p:cNvGrpSpPr>
            <a:grpSpLocks/>
          </p:cNvGrpSpPr>
          <p:nvPr/>
        </p:nvGrpSpPr>
        <p:grpSpPr bwMode="auto">
          <a:xfrm>
            <a:off x="6316663" y="852488"/>
            <a:ext cx="1619250" cy="1450975"/>
            <a:chOff x="2645" y="2672"/>
            <a:chExt cx="1020" cy="914"/>
          </a:xfrm>
        </p:grpSpPr>
        <p:sp>
          <p:nvSpPr>
            <p:cNvPr id="17468" name="Line 23">
              <a:extLst>
                <a:ext uri="{FF2B5EF4-FFF2-40B4-BE49-F238E27FC236}">
                  <a16:creationId xmlns:a16="http://schemas.microsoft.com/office/drawing/2014/main" id="{49EF9584-720F-492D-BAA6-6D09BE52F2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99" y="2815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9" name="Line 24">
              <a:extLst>
                <a:ext uri="{FF2B5EF4-FFF2-40B4-BE49-F238E27FC236}">
                  <a16:creationId xmlns:a16="http://schemas.microsoft.com/office/drawing/2014/main" id="{739949F5-7214-4CF1-A20F-055D5947A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4" y="2880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Line 25">
              <a:extLst>
                <a:ext uri="{FF2B5EF4-FFF2-40B4-BE49-F238E27FC236}">
                  <a16:creationId xmlns:a16="http://schemas.microsoft.com/office/drawing/2014/main" id="{73C87A98-6E3A-48E9-BEB6-836E96ACF4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8" y="3024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1" name="Line 26">
              <a:extLst>
                <a:ext uri="{FF2B5EF4-FFF2-40B4-BE49-F238E27FC236}">
                  <a16:creationId xmlns:a16="http://schemas.microsoft.com/office/drawing/2014/main" id="{385F6CC5-1BB4-427D-99E6-8B4CD91AB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5" y="2672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2" name="Line 27">
              <a:extLst>
                <a:ext uri="{FF2B5EF4-FFF2-40B4-BE49-F238E27FC236}">
                  <a16:creationId xmlns:a16="http://schemas.microsoft.com/office/drawing/2014/main" id="{A0DE8213-9032-4628-B3C2-8ABFF869E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0" y="2742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3" name="Line 28">
              <a:extLst>
                <a:ext uri="{FF2B5EF4-FFF2-40B4-BE49-F238E27FC236}">
                  <a16:creationId xmlns:a16="http://schemas.microsoft.com/office/drawing/2014/main" id="{982A02D7-3F21-4EFC-B38E-F7DC55463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6" y="3120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4" name="Line 29">
              <a:extLst>
                <a:ext uri="{FF2B5EF4-FFF2-40B4-BE49-F238E27FC236}">
                  <a16:creationId xmlns:a16="http://schemas.microsoft.com/office/drawing/2014/main" id="{A3AE564B-B0C5-4032-BEA0-14969E72F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3174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5" name="Line 30">
              <a:extLst>
                <a:ext uri="{FF2B5EF4-FFF2-40B4-BE49-F238E27FC236}">
                  <a16:creationId xmlns:a16="http://schemas.microsoft.com/office/drawing/2014/main" id="{285B8E9F-E116-4D60-A7F2-BE9E20FF89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45" y="3270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6" name="Line 31">
              <a:extLst>
                <a:ext uri="{FF2B5EF4-FFF2-40B4-BE49-F238E27FC236}">
                  <a16:creationId xmlns:a16="http://schemas.microsoft.com/office/drawing/2014/main" id="{D59507DC-FA27-436E-988D-A0EC499438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" y="3352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7" name="Line 32">
              <a:extLst>
                <a:ext uri="{FF2B5EF4-FFF2-40B4-BE49-F238E27FC236}">
                  <a16:creationId xmlns:a16="http://schemas.microsoft.com/office/drawing/2014/main" id="{93D922B6-D899-47B9-B853-E878C356C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0" y="2967"/>
              <a:ext cx="349" cy="234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3">
            <a:extLst>
              <a:ext uri="{FF2B5EF4-FFF2-40B4-BE49-F238E27FC236}">
                <a16:creationId xmlns:a16="http://schemas.microsoft.com/office/drawing/2014/main" id="{CC1597B5-1F1F-4AE0-8135-AB12D3792D83}"/>
              </a:ext>
            </a:extLst>
          </p:cNvPr>
          <p:cNvGrpSpPr>
            <a:grpSpLocks/>
          </p:cNvGrpSpPr>
          <p:nvPr/>
        </p:nvGrpSpPr>
        <p:grpSpPr bwMode="auto">
          <a:xfrm>
            <a:off x="6308725" y="560388"/>
            <a:ext cx="1981200" cy="1689100"/>
            <a:chOff x="4128" y="288"/>
            <a:chExt cx="1248" cy="1064"/>
          </a:xfrm>
        </p:grpSpPr>
        <p:sp>
          <p:nvSpPr>
            <p:cNvPr id="17463" name="Line 34">
              <a:extLst>
                <a:ext uri="{FF2B5EF4-FFF2-40B4-BE49-F238E27FC236}">
                  <a16:creationId xmlns:a16="http://schemas.microsoft.com/office/drawing/2014/main" id="{3821D651-5012-4402-921B-A780059F8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15"/>
              <a:ext cx="10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4" name="Line 35">
              <a:extLst>
                <a:ext uri="{FF2B5EF4-FFF2-40B4-BE49-F238E27FC236}">
                  <a16:creationId xmlns:a16="http://schemas.microsoft.com/office/drawing/2014/main" id="{EF4EB3A8-9B57-4B1E-8B66-64423D56A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6" y="296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65" name="Object 36">
              <a:extLst>
                <a:ext uri="{FF2B5EF4-FFF2-40B4-BE49-F238E27FC236}">
                  <a16:creationId xmlns:a16="http://schemas.microsoft.com/office/drawing/2014/main" id="{541344D1-BFA6-4B01-B4E2-EF803E888B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960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09599" imgH="222365" progId="Equation.3">
                    <p:embed/>
                  </p:oleObj>
                </mc:Choice>
                <mc:Fallback>
                  <p:oleObj name="Equation" r:id="rId11" imgW="209599" imgH="222365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960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66" name="Object 37">
              <a:extLst>
                <a:ext uri="{FF2B5EF4-FFF2-40B4-BE49-F238E27FC236}">
                  <a16:creationId xmlns:a16="http://schemas.microsoft.com/office/drawing/2014/main" id="{7C1B15A7-C84E-4EB2-A18A-5285D97BDB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288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2050" imgH="298219" progId="Equation.3">
                    <p:embed/>
                  </p:oleObj>
                </mc:Choice>
                <mc:Fallback>
                  <p:oleObj name="Equation" r:id="rId13" imgW="222050" imgH="298219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288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7467" name="Picture 38">
              <a:extLst>
                <a:ext uri="{FF2B5EF4-FFF2-40B4-BE49-F238E27FC236}">
                  <a16:creationId xmlns:a16="http://schemas.microsoft.com/office/drawing/2014/main" id="{01DF098D-795E-447B-A671-3068149A7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5" y="1043"/>
              <a:ext cx="112" cy="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" name="Group 39">
            <a:extLst>
              <a:ext uri="{FF2B5EF4-FFF2-40B4-BE49-F238E27FC236}">
                <a16:creationId xmlns:a16="http://schemas.microsoft.com/office/drawing/2014/main" id="{60F11B3C-2B8A-417A-B6F3-3791C3277122}"/>
              </a:ext>
            </a:extLst>
          </p:cNvPr>
          <p:cNvGrpSpPr>
            <a:grpSpLocks/>
          </p:cNvGrpSpPr>
          <p:nvPr/>
        </p:nvGrpSpPr>
        <p:grpSpPr bwMode="auto">
          <a:xfrm>
            <a:off x="9023350" y="573088"/>
            <a:ext cx="2284413" cy="1990725"/>
            <a:chOff x="4032" y="1530"/>
            <a:chExt cx="1439" cy="1254"/>
          </a:xfrm>
        </p:grpSpPr>
        <p:grpSp>
          <p:nvGrpSpPr>
            <p:cNvPr id="17454" name="Group 40">
              <a:extLst>
                <a:ext uri="{FF2B5EF4-FFF2-40B4-BE49-F238E27FC236}">
                  <a16:creationId xmlns:a16="http://schemas.microsoft.com/office/drawing/2014/main" id="{AD97875E-B2C2-4BC3-8567-D558D62A37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1530"/>
              <a:ext cx="1439" cy="1254"/>
              <a:chOff x="4032" y="1530"/>
              <a:chExt cx="1439" cy="1254"/>
            </a:xfrm>
          </p:grpSpPr>
          <p:sp>
            <p:nvSpPr>
              <p:cNvPr id="17456" name="AutoShape 41">
                <a:extLst>
                  <a:ext uri="{FF2B5EF4-FFF2-40B4-BE49-F238E27FC236}">
                    <a16:creationId xmlns:a16="http://schemas.microsoft.com/office/drawing/2014/main" id="{A6C7D7A0-72CD-43F8-88BD-05DD6C9F87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6" y="1789"/>
                <a:ext cx="863" cy="86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w 21600"/>
                  <a:gd name="T9" fmla="*/ 0 h 21600"/>
                  <a:gd name="T10" fmla="*/ 0 w 21600"/>
                  <a:gd name="T11" fmla="*/ 0 h 21600"/>
                  <a:gd name="T12" fmla="*/ 0 w 21600"/>
                  <a:gd name="T13" fmla="*/ 0 h 21600"/>
                  <a:gd name="T14" fmla="*/ 0 w 21600"/>
                  <a:gd name="T15" fmla="*/ 0 h 216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3154 w 21600"/>
                  <a:gd name="T25" fmla="*/ 3175 h 21600"/>
                  <a:gd name="T26" fmla="*/ 18446 w 21600"/>
                  <a:gd name="T27" fmla="*/ 18425 h 2160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5400" y="10800"/>
                    </a:moveTo>
                    <a:cubicBezTo>
                      <a:pt x="5400" y="13782"/>
                      <a:pt x="7818" y="16200"/>
                      <a:pt x="10800" y="16200"/>
                    </a:cubicBezTo>
                    <a:cubicBezTo>
                      <a:pt x="13782" y="16200"/>
                      <a:pt x="16200" y="13782"/>
                      <a:pt x="16200" y="10800"/>
                    </a:cubicBezTo>
                    <a:cubicBezTo>
                      <a:pt x="16200" y="7818"/>
                      <a:pt x="13782" y="5400"/>
                      <a:pt x="10800" y="5400"/>
                    </a:cubicBezTo>
                    <a:cubicBezTo>
                      <a:pt x="7818" y="5400"/>
                      <a:pt x="5400" y="7818"/>
                      <a:pt x="540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solidFill>
                  <a:srgbClr val="CC000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7" name="Line 42">
                <a:extLst>
                  <a:ext uri="{FF2B5EF4-FFF2-40B4-BE49-F238E27FC236}">
                    <a16:creationId xmlns:a16="http://schemas.microsoft.com/office/drawing/2014/main" id="{E1DEAAEF-3AB8-4579-8F78-435619E4C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222"/>
                <a:ext cx="1295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8" name="Line 43">
                <a:extLst>
                  <a:ext uri="{FF2B5EF4-FFF2-40B4-BE49-F238E27FC236}">
                    <a16:creationId xmlns:a16="http://schemas.microsoft.com/office/drawing/2014/main" id="{ED8D8539-7EF3-46F6-BDA8-FA48E4E86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87" y="1530"/>
                <a:ext cx="1" cy="12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7459" name="Object 44">
                <a:extLst>
                  <a:ext uri="{FF2B5EF4-FFF2-40B4-BE49-F238E27FC236}">
                    <a16:creationId xmlns:a16="http://schemas.microsoft.com/office/drawing/2014/main" id="{E30FF383-F895-4897-80C2-05061A477E5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27" y="2241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09599" imgH="222365" progId="Equation.3">
                      <p:embed/>
                    </p:oleObj>
                  </mc:Choice>
                  <mc:Fallback>
                    <p:oleObj name="Equation" r:id="rId11" imgW="209599" imgH="222365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7" y="2241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60" name="Object 45">
                <a:extLst>
                  <a:ext uri="{FF2B5EF4-FFF2-40B4-BE49-F238E27FC236}">
                    <a16:creationId xmlns:a16="http://schemas.microsoft.com/office/drawing/2014/main" id="{6409A192-51CF-408B-835C-02CEF70DE47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07" y="1570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22050" imgH="298219" progId="Equation.3">
                      <p:embed/>
                    </p:oleObj>
                  </mc:Choice>
                  <mc:Fallback>
                    <p:oleObj name="Equation" r:id="rId17" imgW="222050" imgH="298219" progId="Equation.3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7" y="1570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61" name="Object 46">
                <a:extLst>
                  <a:ext uri="{FF2B5EF4-FFF2-40B4-BE49-F238E27FC236}">
                    <a16:creationId xmlns:a16="http://schemas.microsoft.com/office/drawing/2014/main" id="{714D9C19-A3FE-4909-BA1D-1ECA4289CF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047" y="2230"/>
              <a:ext cx="9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90403" imgH="285750" progId="Equation.3">
                      <p:embed/>
                    </p:oleObj>
                  </mc:Choice>
                  <mc:Fallback>
                    <p:oleObj name="Equation" r:id="rId19" imgW="190403" imgH="285750" progId="Equation.3">
                      <p:embed/>
                      <p:pic>
                        <p:nvPicPr>
                          <p:cNvPr id="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47" y="2230"/>
                            <a:ext cx="96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62" name="Object 47">
                <a:extLst>
                  <a:ext uri="{FF2B5EF4-FFF2-40B4-BE49-F238E27FC236}">
                    <a16:creationId xmlns:a16="http://schemas.microsoft.com/office/drawing/2014/main" id="{AA328B5E-904F-4EB0-BE6E-66D0BE16E65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99" y="2226"/>
              <a:ext cx="94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33334" imgH="285750" progId="Equation.3">
                      <p:embed/>
                    </p:oleObj>
                  </mc:Choice>
                  <mc:Fallback>
                    <p:oleObj name="Equation" r:id="rId21" imgW="133334" imgH="285750" progId="Equation.3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9" y="2226"/>
                            <a:ext cx="94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7455" name="Picture 48">
              <a:extLst>
                <a:ext uri="{FF2B5EF4-FFF2-40B4-BE49-F238E27FC236}">
                  <a16:creationId xmlns:a16="http://schemas.microsoft.com/office/drawing/2014/main" id="{8D3463C8-CC83-4AED-8753-9643BDAA3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8" y="2249"/>
              <a:ext cx="12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49">
            <a:extLst>
              <a:ext uri="{FF2B5EF4-FFF2-40B4-BE49-F238E27FC236}">
                <a16:creationId xmlns:a16="http://schemas.microsoft.com/office/drawing/2014/main" id="{1ECD4F74-80F2-4ADF-B22E-D0A2F0210E0C}"/>
              </a:ext>
            </a:extLst>
          </p:cNvPr>
          <p:cNvGrpSpPr>
            <a:grpSpLocks/>
          </p:cNvGrpSpPr>
          <p:nvPr/>
        </p:nvGrpSpPr>
        <p:grpSpPr bwMode="auto">
          <a:xfrm>
            <a:off x="6218238" y="2997200"/>
            <a:ext cx="2109787" cy="1957388"/>
            <a:chOff x="768" y="2544"/>
            <a:chExt cx="1329" cy="1233"/>
          </a:xfrm>
        </p:grpSpPr>
        <p:sp>
          <p:nvSpPr>
            <p:cNvPr id="17437" name="Line 50">
              <a:extLst>
                <a:ext uri="{FF2B5EF4-FFF2-40B4-BE49-F238E27FC236}">
                  <a16:creationId xmlns:a16="http://schemas.microsoft.com/office/drawing/2014/main" id="{AC1EC90C-B3FA-4173-BA8B-F68A918DC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82"/>
              <a:ext cx="894" cy="8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Line 51">
              <a:extLst>
                <a:ext uri="{FF2B5EF4-FFF2-40B4-BE49-F238E27FC236}">
                  <a16:creationId xmlns:a16="http://schemas.microsoft.com/office/drawing/2014/main" id="{9B36F963-CE9A-4D15-8BA0-BBAD858A9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" y="3271"/>
              <a:ext cx="10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52">
              <a:extLst>
                <a:ext uri="{FF2B5EF4-FFF2-40B4-BE49-F238E27FC236}">
                  <a16:creationId xmlns:a16="http://schemas.microsoft.com/office/drawing/2014/main" id="{1FDC1DA3-F4D6-43E1-ABF6-3A1F85E58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255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40" name="Object 53">
              <a:extLst>
                <a:ext uri="{FF2B5EF4-FFF2-40B4-BE49-F238E27FC236}">
                  <a16:creationId xmlns:a16="http://schemas.microsoft.com/office/drawing/2014/main" id="{FF142C8C-0069-436E-A874-665A5079F6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3" y="321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9599" imgH="222365" progId="Equation.3">
                    <p:embed/>
                  </p:oleObj>
                </mc:Choice>
                <mc:Fallback>
                  <p:oleObj name="Equation" r:id="rId24" imgW="209599" imgH="222365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321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41" name="Object 54">
              <a:extLst>
                <a:ext uri="{FF2B5EF4-FFF2-40B4-BE49-F238E27FC236}">
                  <a16:creationId xmlns:a16="http://schemas.microsoft.com/office/drawing/2014/main" id="{E7463142-6BB1-49EB-8CBD-6447D65B838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5" y="254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2050" imgH="298219" progId="Equation.3">
                    <p:embed/>
                  </p:oleObj>
                </mc:Choice>
                <mc:Fallback>
                  <p:oleObj name="Equation" r:id="rId13" imgW="222050" imgH="298219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254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42" name="Group 55">
              <a:extLst>
                <a:ext uri="{FF2B5EF4-FFF2-40B4-BE49-F238E27FC236}">
                  <a16:creationId xmlns:a16="http://schemas.microsoft.com/office/drawing/2014/main" id="{D64BF7AA-5EC4-424D-B2B2-A665E8DE90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4" y="2728"/>
              <a:ext cx="1020" cy="914"/>
              <a:chOff x="2645" y="2672"/>
              <a:chExt cx="1020" cy="914"/>
            </a:xfrm>
          </p:grpSpPr>
          <p:sp>
            <p:nvSpPr>
              <p:cNvPr id="17444" name="Line 56">
                <a:extLst>
                  <a:ext uri="{FF2B5EF4-FFF2-40B4-BE49-F238E27FC236}">
                    <a16:creationId xmlns:a16="http://schemas.microsoft.com/office/drawing/2014/main" id="{A1051C10-A9B2-431E-83F6-62BB63515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5" name="Line 57">
                <a:extLst>
                  <a:ext uri="{FF2B5EF4-FFF2-40B4-BE49-F238E27FC236}">
                    <a16:creationId xmlns:a16="http://schemas.microsoft.com/office/drawing/2014/main" id="{2CB9ECF1-7629-4EED-A0C7-60913B0EF2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6" name="Line 58">
                <a:extLst>
                  <a:ext uri="{FF2B5EF4-FFF2-40B4-BE49-F238E27FC236}">
                    <a16:creationId xmlns:a16="http://schemas.microsoft.com/office/drawing/2014/main" id="{A8CF2721-E638-439E-8035-85001A478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7" name="Line 59">
                <a:extLst>
                  <a:ext uri="{FF2B5EF4-FFF2-40B4-BE49-F238E27FC236}">
                    <a16:creationId xmlns:a16="http://schemas.microsoft.com/office/drawing/2014/main" id="{69FF66EA-3156-4784-9AC6-464A4B7366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8" name="Line 60">
                <a:extLst>
                  <a:ext uri="{FF2B5EF4-FFF2-40B4-BE49-F238E27FC236}">
                    <a16:creationId xmlns:a16="http://schemas.microsoft.com/office/drawing/2014/main" id="{4B0A4802-5EE0-4DF5-AF19-EFA736FA7D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9" name="Line 61">
                <a:extLst>
                  <a:ext uri="{FF2B5EF4-FFF2-40B4-BE49-F238E27FC236}">
                    <a16:creationId xmlns:a16="http://schemas.microsoft.com/office/drawing/2014/main" id="{8EDFF456-1EA5-41A1-95AE-9F9FDBEF92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0" name="Line 62">
                <a:extLst>
                  <a:ext uri="{FF2B5EF4-FFF2-40B4-BE49-F238E27FC236}">
                    <a16:creationId xmlns:a16="http://schemas.microsoft.com/office/drawing/2014/main" id="{CB24DEE7-4B2E-4986-8609-81A75DE2D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1" name="Line 63">
                <a:extLst>
                  <a:ext uri="{FF2B5EF4-FFF2-40B4-BE49-F238E27FC236}">
                    <a16:creationId xmlns:a16="http://schemas.microsoft.com/office/drawing/2014/main" id="{A8AA150F-126B-4F5B-9E0F-D480E4226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2" name="Line 64">
                <a:extLst>
                  <a:ext uri="{FF2B5EF4-FFF2-40B4-BE49-F238E27FC236}">
                    <a16:creationId xmlns:a16="http://schemas.microsoft.com/office/drawing/2014/main" id="{E5E5F3D3-3791-4FA2-8EB6-67A7737FF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53" name="Line 65">
                <a:extLst>
                  <a:ext uri="{FF2B5EF4-FFF2-40B4-BE49-F238E27FC236}">
                    <a16:creationId xmlns:a16="http://schemas.microsoft.com/office/drawing/2014/main" id="{F26066BE-6703-4FDE-893F-292FFD910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7443" name="Picture 66">
              <a:extLst>
                <a:ext uri="{FF2B5EF4-FFF2-40B4-BE49-F238E27FC236}">
                  <a16:creationId xmlns:a16="http://schemas.microsoft.com/office/drawing/2014/main" id="{52857C60-93DD-40B3-B12B-FD7F4C1159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" y="3285"/>
              <a:ext cx="119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oup 67">
            <a:extLst>
              <a:ext uri="{FF2B5EF4-FFF2-40B4-BE49-F238E27FC236}">
                <a16:creationId xmlns:a16="http://schemas.microsoft.com/office/drawing/2014/main" id="{C1EF4896-9995-47BF-9956-2EBB90179B64}"/>
              </a:ext>
            </a:extLst>
          </p:cNvPr>
          <p:cNvGrpSpPr>
            <a:grpSpLocks/>
          </p:cNvGrpSpPr>
          <p:nvPr/>
        </p:nvGrpSpPr>
        <p:grpSpPr bwMode="auto">
          <a:xfrm>
            <a:off x="8993188" y="3005138"/>
            <a:ext cx="2300287" cy="1990725"/>
            <a:chOff x="2449" y="2496"/>
            <a:chExt cx="1449" cy="1254"/>
          </a:xfrm>
        </p:grpSpPr>
        <p:sp>
          <p:nvSpPr>
            <p:cNvPr id="17429" name="AutoShape 68">
              <a:extLst>
                <a:ext uri="{FF2B5EF4-FFF2-40B4-BE49-F238E27FC236}">
                  <a16:creationId xmlns:a16="http://schemas.microsoft.com/office/drawing/2014/main" id="{09939D9A-B395-409F-98B6-478D5A91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2755"/>
              <a:ext cx="863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0" name="Line 69">
              <a:extLst>
                <a:ext uri="{FF2B5EF4-FFF2-40B4-BE49-F238E27FC236}">
                  <a16:creationId xmlns:a16="http://schemas.microsoft.com/office/drawing/2014/main" id="{FAB42646-C020-4179-925C-FEBB71FF0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3188"/>
              <a:ext cx="129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1" name="Line 70">
              <a:extLst>
                <a:ext uri="{FF2B5EF4-FFF2-40B4-BE49-F238E27FC236}">
                  <a16:creationId xmlns:a16="http://schemas.microsoft.com/office/drawing/2014/main" id="{E3EB8FFB-2C32-4916-ADEC-042AC43FE6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4" y="2496"/>
              <a:ext cx="1" cy="1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32" name="Object 71">
              <a:extLst>
                <a:ext uri="{FF2B5EF4-FFF2-40B4-BE49-F238E27FC236}">
                  <a16:creationId xmlns:a16="http://schemas.microsoft.com/office/drawing/2014/main" id="{6A7C4E72-BA5C-4778-84BB-CB55848F6C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4" y="3175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9599" imgH="222365" progId="Equation.3">
                    <p:embed/>
                  </p:oleObj>
                </mc:Choice>
                <mc:Fallback>
                  <p:oleObj name="Equation" r:id="rId24" imgW="209599" imgH="222365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175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72">
              <a:extLst>
                <a:ext uri="{FF2B5EF4-FFF2-40B4-BE49-F238E27FC236}">
                  <a16:creationId xmlns:a16="http://schemas.microsoft.com/office/drawing/2014/main" id="{807FA287-E991-4654-B209-C69F83A41F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4" y="249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22050" imgH="298219" progId="Equation.3">
                    <p:embed/>
                  </p:oleObj>
                </mc:Choice>
                <mc:Fallback>
                  <p:oleObj name="Equation" r:id="rId13" imgW="222050" imgH="298219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4" y="249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4" name="Object 73">
              <a:extLst>
                <a:ext uri="{FF2B5EF4-FFF2-40B4-BE49-F238E27FC236}">
                  <a16:creationId xmlns:a16="http://schemas.microsoft.com/office/drawing/2014/main" id="{91FCAC05-72CF-49EA-991C-B40861D531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4" y="3196"/>
            <a:ext cx="115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90403" imgH="285750" progId="Equation.3">
                    <p:embed/>
                  </p:oleObj>
                </mc:Choice>
                <mc:Fallback>
                  <p:oleObj name="Equation" r:id="rId30" imgW="190403" imgH="28575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4" y="3196"/>
                          <a:ext cx="115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5" name="Object 74">
              <a:extLst>
                <a:ext uri="{FF2B5EF4-FFF2-40B4-BE49-F238E27FC236}">
                  <a16:creationId xmlns:a16="http://schemas.microsoft.com/office/drawing/2014/main" id="{9B8458D6-2879-4414-9348-16DE900810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3192"/>
            <a:ext cx="96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33334" imgH="285750" progId="Equation.3">
                    <p:embed/>
                  </p:oleObj>
                </mc:Choice>
                <mc:Fallback>
                  <p:oleObj name="Equation" r:id="rId32" imgW="133334" imgH="28575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192"/>
                          <a:ext cx="96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7436" name="Picture 75">
              <a:extLst>
                <a:ext uri="{FF2B5EF4-FFF2-40B4-BE49-F238E27FC236}">
                  <a16:creationId xmlns:a16="http://schemas.microsoft.com/office/drawing/2014/main" id="{F24549C7-F45F-4B46-8B9F-4FEE12B9DD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" y="3210"/>
              <a:ext cx="124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7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7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5" grpId="0" build="p" autoUpdateAnimBg="0" advAuto="0"/>
      <p:bldP spid="67596" grpId="0" autoUpdateAnimBg="0"/>
      <p:bldP spid="67597" grpId="0" autoUpdateAnimBg="0"/>
      <p:bldP spid="67598" grpId="0" autoUpdateAnimBg="0"/>
      <p:bldP spid="67599" grpId="0" autoUpdateAnimBg="0"/>
      <p:bldP spid="6760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C70C1E07-8366-4CE3-A37C-412786A31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1592263"/>
            <a:ext cx="20796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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整个平面  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FB39DA3B-A601-44CB-AD56-B38B8F6EF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2582863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FF66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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点集 </a:t>
            </a:r>
          </a:p>
        </p:txBody>
      </p:sp>
      <p:graphicFrame>
        <p:nvGraphicFramePr>
          <p:cNvPr id="69636" name="Object 4">
            <a:extLst>
              <a:ext uri="{FF2B5EF4-FFF2-40B4-BE49-F238E27FC236}">
                <a16:creationId xmlns:a16="http://schemas.microsoft.com/office/drawing/2014/main" id="{25195ACF-C6D0-4BE6-AB14-486898CED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0375" y="2644775"/>
          <a:ext cx="2079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75104" imgH="450965" progId="Equation.3">
                  <p:embed/>
                </p:oleObj>
              </mc:Choice>
              <mc:Fallback>
                <p:oleObj name="Equation" r:id="rId3" imgW="1975104" imgH="4509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375" y="2644775"/>
                        <a:ext cx="2079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Text Box 5">
            <a:extLst>
              <a:ext uri="{FF2B5EF4-FFF2-40B4-BE49-F238E27FC236}">
                <a16:creationId xmlns:a16="http://schemas.microsoft.com/office/drawing/2014/main" id="{CC3DFCEC-78D4-42E3-9340-80C5099DB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5" y="2568575"/>
            <a:ext cx="1947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是开集，</a:t>
            </a:r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5E4099C6-4167-4CB4-81E5-7771C38D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600200"/>
            <a:ext cx="27432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是最大的开域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  <p:sp>
        <p:nvSpPr>
          <p:cNvPr id="69639" name="Text Box 7">
            <a:extLst>
              <a:ext uri="{FF2B5EF4-FFF2-40B4-BE49-F238E27FC236}">
                <a16:creationId xmlns:a16="http://schemas.microsoft.com/office/drawing/2014/main" id="{4DCBAF3F-C04F-4E9C-BD51-A1C443D77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1579563"/>
            <a:ext cx="355917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也是最大的闭域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;</a:t>
            </a:r>
          </a:p>
        </p:txBody>
      </p:sp>
      <p:sp>
        <p:nvSpPr>
          <p:cNvPr id="69640" name="Text Box 8">
            <a:extLst>
              <a:ext uri="{FF2B5EF4-FFF2-40B4-BE49-F238E27FC236}">
                <a16:creationId xmlns:a16="http://schemas.microsoft.com/office/drawing/2014/main" id="{B0FF6D40-746B-464A-BD51-D472BF08C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025" y="2576513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但非区域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7AD1B5B0-F51A-458A-A288-10727C6820EF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917700"/>
            <a:ext cx="685800" cy="1854200"/>
            <a:chOff x="3744" y="470"/>
            <a:chExt cx="432" cy="1168"/>
          </a:xfrm>
        </p:grpSpPr>
        <p:sp>
          <p:nvSpPr>
            <p:cNvPr id="19476" name="Rectangle 10">
              <a:extLst>
                <a:ext uri="{FF2B5EF4-FFF2-40B4-BE49-F238E27FC236}">
                  <a16:creationId xmlns:a16="http://schemas.microsoft.com/office/drawing/2014/main" id="{225FA916-E57A-4038-8C67-FDDFF70EA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470"/>
              <a:ext cx="432" cy="1168"/>
            </a:xfrm>
            <a:prstGeom prst="rect">
              <a:avLst/>
            </a:prstGeom>
            <a:solidFill>
              <a:srgbClr val="B2B2B2">
                <a:alpha val="50195"/>
              </a:srgbClr>
            </a:solidFill>
            <a:ln w="9525">
              <a:solidFill>
                <a:srgbClr val="14005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77" name="Line 11">
              <a:extLst>
                <a:ext uri="{FF2B5EF4-FFF2-40B4-BE49-F238E27FC236}">
                  <a16:creationId xmlns:a16="http://schemas.microsoft.com/office/drawing/2014/main" id="{3111BAF6-A8BB-472B-AC7F-73CE3A976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513"/>
              <a:ext cx="0" cy="112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8" name="Object 12">
              <a:extLst>
                <a:ext uri="{FF2B5EF4-FFF2-40B4-BE49-F238E27FC236}">
                  <a16:creationId xmlns:a16="http://schemas.microsoft.com/office/drawing/2014/main" id="{6AF74264-9A9B-4D15-9E7F-18CECA023C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1061"/>
            <a:ext cx="287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84177" imgH="145992" progId="Equation.3">
                    <p:embed/>
                  </p:oleObj>
                </mc:Choice>
                <mc:Fallback>
                  <p:oleObj name="公式" r:id="rId5" imgW="184177" imgH="14599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061"/>
                          <a:ext cx="287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14005A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83B729A4-EC2E-4EE4-9E34-7DBA4BBCD776}"/>
              </a:ext>
            </a:extLst>
          </p:cNvPr>
          <p:cNvGrpSpPr>
            <a:grpSpLocks/>
          </p:cNvGrpSpPr>
          <p:nvPr/>
        </p:nvGrpSpPr>
        <p:grpSpPr bwMode="auto">
          <a:xfrm>
            <a:off x="9007475" y="1917700"/>
            <a:ext cx="746125" cy="1854200"/>
            <a:chOff x="4522" y="470"/>
            <a:chExt cx="470" cy="1168"/>
          </a:xfrm>
        </p:grpSpPr>
        <p:sp>
          <p:nvSpPr>
            <p:cNvPr id="19473" name="Rectangle 14">
              <a:extLst>
                <a:ext uri="{FF2B5EF4-FFF2-40B4-BE49-F238E27FC236}">
                  <a16:creationId xmlns:a16="http://schemas.microsoft.com/office/drawing/2014/main" id="{CFF40C43-4950-447E-9D04-4085D4F3D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470"/>
              <a:ext cx="470" cy="1168"/>
            </a:xfrm>
            <a:prstGeom prst="rect">
              <a:avLst/>
            </a:prstGeom>
            <a:solidFill>
              <a:srgbClr val="B2B2B2">
                <a:alpha val="50195"/>
              </a:srgbClr>
            </a:solidFill>
            <a:ln w="9525">
              <a:solidFill>
                <a:srgbClr val="14005A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9474" name="Line 15">
              <a:extLst>
                <a:ext uri="{FF2B5EF4-FFF2-40B4-BE49-F238E27FC236}">
                  <a16:creationId xmlns:a16="http://schemas.microsoft.com/office/drawing/2014/main" id="{26801A93-1355-4302-B60E-B356D156C4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22" y="470"/>
              <a:ext cx="0" cy="116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5" name="Object 16">
              <a:extLst>
                <a:ext uri="{FF2B5EF4-FFF2-40B4-BE49-F238E27FC236}">
                  <a16:creationId xmlns:a16="http://schemas.microsoft.com/office/drawing/2014/main" id="{F1E6C768-9082-4CF1-A49F-F94B6140BA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1061"/>
            <a:ext cx="125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70039" imgH="145992" progId="Equation.3">
                    <p:embed/>
                  </p:oleObj>
                </mc:Choice>
                <mc:Fallback>
                  <p:oleObj name="公式" r:id="rId7" imgW="70039" imgH="14599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061"/>
                          <a:ext cx="125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63BAFF50-2CCE-4FA8-8F71-C0FAF0FBEE4B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781175"/>
            <a:ext cx="2286000" cy="1990725"/>
            <a:chOff x="3744" y="384"/>
            <a:chExt cx="1440" cy="1254"/>
          </a:xfrm>
        </p:grpSpPr>
        <p:sp>
          <p:nvSpPr>
            <p:cNvPr id="19468" name="Line 23">
              <a:extLst>
                <a:ext uri="{FF2B5EF4-FFF2-40B4-BE49-F238E27FC236}">
                  <a16:creationId xmlns:a16="http://schemas.microsoft.com/office/drawing/2014/main" id="{AADE35C8-AADB-49BE-B031-8925F4395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076"/>
              <a:ext cx="12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9" name="Line 24">
              <a:extLst>
                <a:ext uri="{FF2B5EF4-FFF2-40B4-BE49-F238E27FC236}">
                  <a16:creationId xmlns:a16="http://schemas.microsoft.com/office/drawing/2014/main" id="{DF57DD0D-288E-4CA3-8A9E-5303867D6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9" y="427"/>
              <a:ext cx="0" cy="12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0" name="Object 25">
              <a:extLst>
                <a:ext uri="{FF2B5EF4-FFF2-40B4-BE49-F238E27FC236}">
                  <a16:creationId xmlns:a16="http://schemas.microsoft.com/office/drawing/2014/main" id="{2ED4ECC2-6AE4-4403-BD53-907CD6035F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8" y="1056"/>
            <a:ext cx="13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03" imgH="209377" progId="Equation.3">
                    <p:embed/>
                  </p:oleObj>
                </mc:Choice>
                <mc:Fallback>
                  <p:oleObj name="Equation" r:id="rId9" imgW="190403" imgH="20937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8" y="1056"/>
                          <a:ext cx="13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26">
              <a:extLst>
                <a:ext uri="{FF2B5EF4-FFF2-40B4-BE49-F238E27FC236}">
                  <a16:creationId xmlns:a16="http://schemas.microsoft.com/office/drawing/2014/main" id="{662F608A-AAE0-41ED-AEF4-6E036413D3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3" y="384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22050" imgH="285750" progId="Equation.3">
                    <p:embed/>
                  </p:oleObj>
                </mc:Choice>
                <mc:Fallback>
                  <p:oleObj name="Equation" r:id="rId11" imgW="222050" imgH="28575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3" y="384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9472" name="Picture 27">
              <a:extLst>
                <a:ext uri="{FF2B5EF4-FFF2-40B4-BE49-F238E27FC236}">
                  <a16:creationId xmlns:a16="http://schemas.microsoft.com/office/drawing/2014/main" id="{FB06EDB5-7F2E-47BB-9F36-E665B1667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6" y="1096"/>
              <a:ext cx="192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autoUpdateAnimBg="0"/>
      <p:bldP spid="69637" grpId="0" autoUpdateAnimBg="0"/>
      <p:bldP spid="69638" grpId="0" autoUpdateAnimBg="0"/>
      <p:bldP spid="69639" grpId="0" autoUpdateAnimBg="0"/>
      <p:bldP spid="6964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6">
            <a:extLst>
              <a:ext uri="{FF2B5EF4-FFF2-40B4-BE49-F238E27FC236}">
                <a16:creationId xmlns:a16="http://schemas.microsoft.com/office/drawing/2014/main" id="{E3E30685-32B6-4B0F-A86B-ABCE9147C3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9088" y="122238"/>
            <a:ext cx="4724400" cy="685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(4) 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有界域及无界域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95114AB0-1E21-430E-8AD0-BF8D81314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8" y="1349375"/>
            <a:ext cx="853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对区域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若存在正数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K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使一切点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与某定点 </a:t>
            </a:r>
            <a:endParaRPr kumimoji="1" lang="zh-CN" altLang="en-US" sz="2800" i="1"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11141E22-594F-4CC3-810C-FA58E232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2688" y="1408113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的距离 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AP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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K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8" name="Text Box 19">
            <a:extLst>
              <a:ext uri="{FF2B5EF4-FFF2-40B4-BE49-F238E27FC236}">
                <a16:creationId xmlns:a16="http://schemas.microsoft.com/office/drawing/2014/main" id="{32FF4E24-CAD2-4214-95E1-520AD9996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027238"/>
            <a:ext cx="3048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则称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有界域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  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F6F9C729-F6A9-46EF-BC5C-FBE59B246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488" y="2011363"/>
            <a:ext cx="44037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否则称为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无界域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kumimoji="1" lang="zh-CN" altLang="en-US" sz="2800">
              <a:solidFill>
                <a:srgbClr val="CC0000"/>
              </a:solidFill>
              <a:latin typeface="Times New Roman" panose="02020603050405020304" pitchFamily="18" charset="0"/>
              <a:ea typeface="楷体_GB2312" pitchFamily="49" charset="-122"/>
              <a:sym typeface="Symbol" panose="05050102010706020507" pitchFamily="18" charset="2"/>
            </a:endParaRPr>
          </a:p>
        </p:txBody>
      </p:sp>
      <p:grpSp>
        <p:nvGrpSpPr>
          <p:cNvPr id="20" name="Group 49">
            <a:extLst>
              <a:ext uri="{FF2B5EF4-FFF2-40B4-BE49-F238E27FC236}">
                <a16:creationId xmlns:a16="http://schemas.microsoft.com/office/drawing/2014/main" id="{2DE61B8E-429A-4C8C-8059-0B28387E07A5}"/>
              </a:ext>
            </a:extLst>
          </p:cNvPr>
          <p:cNvGrpSpPr>
            <a:grpSpLocks/>
          </p:cNvGrpSpPr>
          <p:nvPr/>
        </p:nvGrpSpPr>
        <p:grpSpPr bwMode="auto">
          <a:xfrm>
            <a:off x="2870200" y="3200400"/>
            <a:ext cx="2109788" cy="1957388"/>
            <a:chOff x="768" y="2544"/>
            <a:chExt cx="1329" cy="1233"/>
          </a:xfrm>
        </p:grpSpPr>
        <p:sp>
          <p:nvSpPr>
            <p:cNvPr id="21521" name="Line 50">
              <a:extLst>
                <a:ext uri="{FF2B5EF4-FFF2-40B4-BE49-F238E27FC236}">
                  <a16:creationId xmlns:a16="http://schemas.microsoft.com/office/drawing/2014/main" id="{1E4FC608-3073-4EF3-9AC0-A29C0FA07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82"/>
              <a:ext cx="894" cy="8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2" name="Line 51">
              <a:extLst>
                <a:ext uri="{FF2B5EF4-FFF2-40B4-BE49-F238E27FC236}">
                  <a16:creationId xmlns:a16="http://schemas.microsoft.com/office/drawing/2014/main" id="{3D34C1D4-02BC-44A1-883E-D2DBC386B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" y="3271"/>
              <a:ext cx="10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Line 52">
              <a:extLst>
                <a:ext uri="{FF2B5EF4-FFF2-40B4-BE49-F238E27FC236}">
                  <a16:creationId xmlns:a16="http://schemas.microsoft.com/office/drawing/2014/main" id="{08C483F3-3008-4B39-B65C-90EE8665C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2552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24" name="Object 53">
              <a:extLst>
                <a:ext uri="{FF2B5EF4-FFF2-40B4-BE49-F238E27FC236}">
                  <a16:creationId xmlns:a16="http://schemas.microsoft.com/office/drawing/2014/main" id="{28CB4C18-8E67-4D0D-AC36-7AD1DA7EBA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53" y="321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9599" imgH="222365" progId="Equation.3">
                    <p:embed/>
                  </p:oleObj>
                </mc:Choice>
                <mc:Fallback>
                  <p:oleObj name="Equation" r:id="rId2" imgW="209599" imgH="222365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321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5" name="Object 54">
              <a:extLst>
                <a:ext uri="{FF2B5EF4-FFF2-40B4-BE49-F238E27FC236}">
                  <a16:creationId xmlns:a16="http://schemas.microsoft.com/office/drawing/2014/main" id="{8A8D24B3-A485-4609-802F-F96B319B84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45" y="2544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2050" imgH="298219" progId="Equation.3">
                    <p:embed/>
                  </p:oleObj>
                </mc:Choice>
                <mc:Fallback>
                  <p:oleObj name="Equation" r:id="rId4" imgW="222050" imgH="298219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5" y="2544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526" name="Group 55">
              <a:extLst>
                <a:ext uri="{FF2B5EF4-FFF2-40B4-BE49-F238E27FC236}">
                  <a16:creationId xmlns:a16="http://schemas.microsoft.com/office/drawing/2014/main" id="{7F221F94-C959-4B64-A9D2-53A75C980F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4" y="2728"/>
              <a:ext cx="1020" cy="914"/>
              <a:chOff x="2645" y="2672"/>
              <a:chExt cx="1020" cy="914"/>
            </a:xfrm>
          </p:grpSpPr>
          <p:sp>
            <p:nvSpPr>
              <p:cNvPr id="21528" name="Line 56">
                <a:extLst>
                  <a:ext uri="{FF2B5EF4-FFF2-40B4-BE49-F238E27FC236}">
                    <a16:creationId xmlns:a16="http://schemas.microsoft.com/office/drawing/2014/main" id="{79912F41-8530-4ECC-8C73-7F5261117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29" name="Line 57">
                <a:extLst>
                  <a:ext uri="{FF2B5EF4-FFF2-40B4-BE49-F238E27FC236}">
                    <a16:creationId xmlns:a16="http://schemas.microsoft.com/office/drawing/2014/main" id="{722D43A9-43B7-4ACA-8656-A23C9A5A0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0" name="Line 58">
                <a:extLst>
                  <a:ext uri="{FF2B5EF4-FFF2-40B4-BE49-F238E27FC236}">
                    <a16:creationId xmlns:a16="http://schemas.microsoft.com/office/drawing/2014/main" id="{5309A70F-FBC2-46E4-A00D-5915180F2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1" name="Line 59">
                <a:extLst>
                  <a:ext uri="{FF2B5EF4-FFF2-40B4-BE49-F238E27FC236}">
                    <a16:creationId xmlns:a16="http://schemas.microsoft.com/office/drawing/2014/main" id="{1C273722-0F28-4BE0-AE6C-5501D91CD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2" name="Line 60">
                <a:extLst>
                  <a:ext uri="{FF2B5EF4-FFF2-40B4-BE49-F238E27FC236}">
                    <a16:creationId xmlns:a16="http://schemas.microsoft.com/office/drawing/2014/main" id="{AD03EA3E-AC85-4004-9431-7DACCC0A2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3" name="Line 61">
                <a:extLst>
                  <a:ext uri="{FF2B5EF4-FFF2-40B4-BE49-F238E27FC236}">
                    <a16:creationId xmlns:a16="http://schemas.microsoft.com/office/drawing/2014/main" id="{E151CDA5-9C3D-44D4-844A-CC203E451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4" name="Line 62">
                <a:extLst>
                  <a:ext uri="{FF2B5EF4-FFF2-40B4-BE49-F238E27FC236}">
                    <a16:creationId xmlns:a16="http://schemas.microsoft.com/office/drawing/2014/main" id="{6FE06706-C8AD-4F52-B55B-E3B670AF27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5" name="Line 63">
                <a:extLst>
                  <a:ext uri="{FF2B5EF4-FFF2-40B4-BE49-F238E27FC236}">
                    <a16:creationId xmlns:a16="http://schemas.microsoft.com/office/drawing/2014/main" id="{90104D2C-88DB-4BBC-95A4-3895967F9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6" name="Line 64">
                <a:extLst>
                  <a:ext uri="{FF2B5EF4-FFF2-40B4-BE49-F238E27FC236}">
                    <a16:creationId xmlns:a16="http://schemas.microsoft.com/office/drawing/2014/main" id="{D449EB45-9EE1-467F-8774-59C0D507CD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7" name="Line 65">
                <a:extLst>
                  <a:ext uri="{FF2B5EF4-FFF2-40B4-BE49-F238E27FC236}">
                    <a16:creationId xmlns:a16="http://schemas.microsoft.com/office/drawing/2014/main" id="{BFC052AC-165A-407D-B7E4-B30C4A9B0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21527" name="Picture 66">
              <a:extLst>
                <a:ext uri="{FF2B5EF4-FFF2-40B4-BE49-F238E27FC236}">
                  <a16:creationId xmlns:a16="http://schemas.microsoft.com/office/drawing/2014/main" id="{F0D24150-116E-4558-B554-39291B390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" y="3285"/>
              <a:ext cx="119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8" name="Group 67">
            <a:extLst>
              <a:ext uri="{FF2B5EF4-FFF2-40B4-BE49-F238E27FC236}">
                <a16:creationId xmlns:a16="http://schemas.microsoft.com/office/drawing/2014/main" id="{B0510905-850B-4E19-96A1-56AE9AB9B9CC}"/>
              </a:ext>
            </a:extLst>
          </p:cNvPr>
          <p:cNvGrpSpPr>
            <a:grpSpLocks/>
          </p:cNvGrpSpPr>
          <p:nvPr/>
        </p:nvGrpSpPr>
        <p:grpSpPr bwMode="auto">
          <a:xfrm>
            <a:off x="6310313" y="3271838"/>
            <a:ext cx="2300287" cy="1990725"/>
            <a:chOff x="2449" y="2496"/>
            <a:chExt cx="1449" cy="1254"/>
          </a:xfrm>
        </p:grpSpPr>
        <p:sp>
          <p:nvSpPr>
            <p:cNvPr id="21513" name="AutoShape 68">
              <a:extLst>
                <a:ext uri="{FF2B5EF4-FFF2-40B4-BE49-F238E27FC236}">
                  <a16:creationId xmlns:a16="http://schemas.microsoft.com/office/drawing/2014/main" id="{20511DA1-7BFD-481C-B1B6-738D82B4D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2755"/>
              <a:ext cx="863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4" name="Line 69">
              <a:extLst>
                <a:ext uri="{FF2B5EF4-FFF2-40B4-BE49-F238E27FC236}">
                  <a16:creationId xmlns:a16="http://schemas.microsoft.com/office/drawing/2014/main" id="{DC1DEC2B-1DC5-46EB-8651-C92DEAE2F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3188"/>
              <a:ext cx="1295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15" name="Line 70">
              <a:extLst>
                <a:ext uri="{FF2B5EF4-FFF2-40B4-BE49-F238E27FC236}">
                  <a16:creationId xmlns:a16="http://schemas.microsoft.com/office/drawing/2014/main" id="{2C0971AB-B4CA-43E0-BCD3-62B1F94C4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4" y="2496"/>
              <a:ext cx="1" cy="1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516" name="Object 71">
              <a:extLst>
                <a:ext uri="{FF2B5EF4-FFF2-40B4-BE49-F238E27FC236}">
                  <a16:creationId xmlns:a16="http://schemas.microsoft.com/office/drawing/2014/main" id="{6717E2A0-AAA6-48C5-B0AC-BE89BB91C33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4" y="3175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09599" imgH="222365" progId="Equation.3">
                    <p:embed/>
                  </p:oleObj>
                </mc:Choice>
                <mc:Fallback>
                  <p:oleObj name="Equation" r:id="rId2" imgW="209599" imgH="222365" progId="Equation.3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175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7" name="Object 72">
              <a:extLst>
                <a:ext uri="{FF2B5EF4-FFF2-40B4-BE49-F238E27FC236}">
                  <a16:creationId xmlns:a16="http://schemas.microsoft.com/office/drawing/2014/main" id="{3CEF3699-ADCE-4DC0-8A6E-1AF459073F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4" y="249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22050" imgH="298219" progId="Equation.3">
                    <p:embed/>
                  </p:oleObj>
                </mc:Choice>
                <mc:Fallback>
                  <p:oleObj name="Equation" r:id="rId4" imgW="222050" imgH="298219" progId="Equation.3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4" y="249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73">
              <a:extLst>
                <a:ext uri="{FF2B5EF4-FFF2-40B4-BE49-F238E27FC236}">
                  <a16:creationId xmlns:a16="http://schemas.microsoft.com/office/drawing/2014/main" id="{19118103-B07F-4595-85EB-0618FAF87C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64" y="3196"/>
            <a:ext cx="115" cy="1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90403" imgH="285750" progId="Equation.3">
                    <p:embed/>
                  </p:oleObj>
                </mc:Choice>
                <mc:Fallback>
                  <p:oleObj name="Equation" r:id="rId9" imgW="190403" imgH="28575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4" y="3196"/>
                          <a:ext cx="115" cy="1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74">
              <a:extLst>
                <a:ext uri="{FF2B5EF4-FFF2-40B4-BE49-F238E27FC236}">
                  <a16:creationId xmlns:a16="http://schemas.microsoft.com/office/drawing/2014/main" id="{A13C9123-74F5-4E9F-B1C7-6FD96C9561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3192"/>
            <a:ext cx="96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33334" imgH="285750" progId="Equation.3">
                    <p:embed/>
                  </p:oleObj>
                </mc:Choice>
                <mc:Fallback>
                  <p:oleObj name="Equation" r:id="rId11" imgW="133334" imgH="28575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192"/>
                          <a:ext cx="96" cy="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20" name="Picture 75">
              <a:extLst>
                <a:ext uri="{FF2B5EF4-FFF2-40B4-BE49-F238E27FC236}">
                  <a16:creationId xmlns:a16="http://schemas.microsoft.com/office/drawing/2014/main" id="{DF27962D-809E-4E37-ABD1-4480E59B5D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3" y="3210"/>
              <a:ext cx="124" cy="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17" grpId="0" build="p" autoUpdateAnimBg="0" advAuto="0"/>
      <p:bldP spid="18" grpId="0" build="p" autoUpdateAnimBg="0"/>
      <p:bldP spid="1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>
            <a:extLst>
              <a:ext uri="{FF2B5EF4-FFF2-40B4-BE49-F238E27FC236}">
                <a16:creationId xmlns:a16="http://schemas.microsoft.com/office/drawing/2014/main" id="{352C5D36-0D93-4969-A28D-D0C5E8A4E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143000"/>
            <a:ext cx="5032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）下说法正确的是（      ）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1683" name="Text Box 3">
            <a:extLst>
              <a:ext uri="{FF2B5EF4-FFF2-40B4-BE49-F238E27FC236}">
                <a16:creationId xmlns:a16="http://schemas.microsoft.com/office/drawing/2014/main" id="{A2A58BC9-E779-4040-AA73-C719F4D17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8" y="2008188"/>
            <a:ext cx="453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）闭集一定是有界集 ； </a:t>
            </a:r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9C7C5A26-ECD4-442A-B0B6-3D490E03F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100" y="2655888"/>
            <a:ext cx="4154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）有界集一定闭集； </a:t>
            </a:r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6E3C4C20-5027-42C6-B2C2-5D2B37E9D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100" y="3303588"/>
            <a:ext cx="5576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）有界集和闭集无特殊联系； </a:t>
            </a:r>
          </a:p>
        </p:txBody>
      </p:sp>
      <p:sp>
        <p:nvSpPr>
          <p:cNvPr id="71686" name="Text Box 6">
            <a:extLst>
              <a:ext uri="{FF2B5EF4-FFF2-40B4-BE49-F238E27FC236}">
                <a16:creationId xmlns:a16="http://schemas.microsoft.com/office/drawing/2014/main" id="{43300935-99BF-461A-B695-9857AFFFD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100" y="4024313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）不清楚。 </a:t>
            </a:r>
          </a:p>
        </p:txBody>
      </p:sp>
      <p:sp>
        <p:nvSpPr>
          <p:cNvPr id="22535" name="TextBox 69">
            <a:extLst>
              <a:ext uri="{FF2B5EF4-FFF2-40B4-BE49-F238E27FC236}">
                <a16:creationId xmlns:a16="http://schemas.microsoft.com/office/drawing/2014/main" id="{4AE938A1-E103-4102-8735-76E2CABA1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1101725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6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 build="p" autoUpdateAnimBg="0"/>
      <p:bldP spid="71683" grpId="0" build="p" autoUpdateAnimBg="0"/>
      <p:bldP spid="71684" grpId="0" build="p" autoUpdateAnimBg="0"/>
      <p:bldP spid="71685" grpId="0" build="p" autoUpdateAnimBg="0"/>
      <p:bldP spid="71686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5" name="Rectangle 2">
            <a:extLst>
              <a:ext uri="{FF2B5EF4-FFF2-40B4-BE49-F238E27FC236}">
                <a16:creationId xmlns:a16="http://schemas.microsoft.com/office/drawing/2014/main" id="{C21AAD70-AEBC-4BD5-B9FC-5CE3EBEFCF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2238" y="84138"/>
            <a:ext cx="30480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*3.  </a:t>
            </a:r>
            <a:r>
              <a:rPr lang="en-US" altLang="zh-CN" sz="2800" b="1" i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ea typeface="楷体_GB2312" pitchFamily="49" charset="-122"/>
              </a:rPr>
              <a:t>维空间</a:t>
            </a:r>
          </a:p>
        </p:txBody>
      </p:sp>
      <p:sp>
        <p:nvSpPr>
          <p:cNvPr id="73731" name="Text Box 3">
            <a:extLst>
              <a:ext uri="{FF2B5EF4-FFF2-40B4-BE49-F238E27FC236}">
                <a16:creationId xmlns:a16="http://schemas.microsoft.com/office/drawing/2014/main" id="{5099E49B-6D8A-4504-994B-3FC76A044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54927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元有序数组</a:t>
            </a: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503F89EE-0E20-4B2F-95E5-5E98B300CE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5413" y="620713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8839" imgH="412519" progId="Equation.3">
                  <p:embed/>
                </p:oleObj>
              </mc:Choice>
              <mc:Fallback>
                <p:oleObj name="Equation" r:id="rId2" imgW="1898839" imgH="4125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620713"/>
                        <a:ext cx="191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 Box 5">
            <a:extLst>
              <a:ext uri="{FF2B5EF4-FFF2-40B4-BE49-F238E27FC236}">
                <a16:creationId xmlns:a16="http://schemas.microsoft.com/office/drawing/2014/main" id="{ABEFBA0B-9623-4D2D-81DB-00CCE2438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54927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的全体所构成的集合记作</a:t>
            </a:r>
          </a:p>
        </p:txBody>
      </p:sp>
      <p:graphicFrame>
        <p:nvGraphicFramePr>
          <p:cNvPr id="73734" name="Object 6">
            <a:extLst>
              <a:ext uri="{FF2B5EF4-FFF2-40B4-BE49-F238E27FC236}">
                <a16:creationId xmlns:a16="http://schemas.microsoft.com/office/drawing/2014/main" id="{C84D9AFF-C314-4A83-87B4-A3C16F3B82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20300" y="549275"/>
          <a:ext cx="6477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7472" imgH="209377" progId="Equation.DSMT4">
                  <p:embed/>
                </p:oleObj>
              </mc:Choice>
              <mc:Fallback>
                <p:oleObj name="Equation" r:id="rId4" imgW="247472" imgH="20937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0300" y="549275"/>
                        <a:ext cx="6477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Text Box 7">
            <a:extLst>
              <a:ext uri="{FF2B5EF4-FFF2-40B4-BE49-F238E27FC236}">
                <a16:creationId xmlns:a16="http://schemas.microsoft.com/office/drawing/2014/main" id="{9A6CD8A1-F6F7-4396-9292-BB1288EDA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228725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73736" name="Object 8">
            <a:extLst>
              <a:ext uri="{FF2B5EF4-FFF2-40B4-BE49-F238E27FC236}">
                <a16:creationId xmlns:a16="http://schemas.microsoft.com/office/drawing/2014/main" id="{B27C8FC2-76E1-42A2-99F5-308AFF6303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4963" y="1228725"/>
          <a:ext cx="293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14666" imgH="412519" progId="Equation.3">
                  <p:embed/>
                </p:oleObj>
              </mc:Choice>
              <mc:Fallback>
                <p:oleObj name="Equation" r:id="rId6" imgW="2914666" imgH="4125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1228725"/>
                        <a:ext cx="2933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7" name="Object 9">
            <a:extLst>
              <a:ext uri="{FF2B5EF4-FFF2-40B4-BE49-F238E27FC236}">
                <a16:creationId xmlns:a16="http://schemas.microsoft.com/office/drawing/2014/main" id="{C5759291-6E31-4FDD-ACEF-98492DDEC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9013" y="1308100"/>
          <a:ext cx="5981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962666" imgH="450965" progId="Equation.3">
                  <p:embed/>
                </p:oleObj>
              </mc:Choice>
              <mc:Fallback>
                <p:oleObj name="Equation" r:id="rId8" imgW="5962666" imgH="4509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9013" y="1308100"/>
                        <a:ext cx="5981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Text Box 10">
            <a:extLst>
              <a:ext uri="{FF2B5EF4-FFF2-40B4-BE49-F238E27FC236}">
                <a16:creationId xmlns:a16="http://schemas.microsoft.com/office/drawing/2014/main" id="{6ABF0629-74AD-4828-AC11-E34C24F36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850" y="1919288"/>
            <a:ext cx="7734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中每一个元素用单个粗体字母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73739" name="Object 11">
            <a:extLst>
              <a:ext uri="{FF2B5EF4-FFF2-40B4-BE49-F238E27FC236}">
                <a16:creationId xmlns:a16="http://schemas.microsoft.com/office/drawing/2014/main" id="{E730ECDA-1EA3-4101-928C-A56430C368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9563" y="1919288"/>
          <a:ext cx="5048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03" imgH="171450" progId="Equation.DSMT4">
                  <p:embed/>
                </p:oleObj>
              </mc:Choice>
              <mc:Fallback>
                <p:oleObj name="Equation" r:id="rId10" imgW="190403" imgH="17145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9563" y="1919288"/>
                        <a:ext cx="5048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0" name="Object 12">
            <a:extLst>
              <a:ext uri="{FF2B5EF4-FFF2-40B4-BE49-F238E27FC236}">
                <a16:creationId xmlns:a16="http://schemas.microsoft.com/office/drawing/2014/main" id="{B9F33725-B88C-4B33-A458-D6D7539F1B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8050" y="1990725"/>
          <a:ext cx="2195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57596" imgH="412519" progId="Equation.3">
                  <p:embed/>
                </p:oleObj>
              </mc:Choice>
              <mc:Fallback>
                <p:oleObj name="Equation" r:id="rId12" imgW="2457596" imgH="41251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8050" y="1990725"/>
                        <a:ext cx="2195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3">
            <a:extLst>
              <a:ext uri="{FF2B5EF4-FFF2-40B4-BE49-F238E27FC236}">
                <a16:creationId xmlns:a16="http://schemas.microsoft.com/office/drawing/2014/main" id="{0C0A6ADC-20D5-4C2F-B122-98A3A78E1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8" y="4660900"/>
          <a:ext cx="3517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98845" imgH="476423" progId="Equation.DSMT4">
                  <p:embed/>
                </p:oleObj>
              </mc:Choice>
              <mc:Fallback>
                <p:oleObj name="Equation" r:id="rId14" imgW="3498845" imgH="476423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8" y="4660900"/>
                        <a:ext cx="3517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2" name="Text Box 14">
            <a:extLst>
              <a:ext uri="{FF2B5EF4-FFF2-40B4-BE49-F238E27FC236}">
                <a16:creationId xmlns:a16="http://schemas.microsoft.com/office/drawing/2014/main" id="{262BF703-FE00-42F0-9D25-8DC64A67D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339407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定义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73743" name="Object 15">
            <a:extLst>
              <a:ext uri="{FF2B5EF4-FFF2-40B4-BE49-F238E27FC236}">
                <a16:creationId xmlns:a16="http://schemas.microsoft.com/office/drawing/2014/main" id="{8EA97EB2-E2B1-4E06-B408-270AAF4DB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5263" y="3970338"/>
          <a:ext cx="37830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65512" imgH="412519" progId="Equation.3">
                  <p:embed/>
                </p:oleObj>
              </mc:Choice>
              <mc:Fallback>
                <p:oleObj name="Equation" r:id="rId16" imgW="3765512" imgH="4125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970338"/>
                        <a:ext cx="37830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6">
            <a:extLst>
              <a:ext uri="{FF2B5EF4-FFF2-40B4-BE49-F238E27FC236}">
                <a16:creationId xmlns:a16="http://schemas.microsoft.com/office/drawing/2014/main" id="{133561D9-C072-4978-92FD-317156B403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636838"/>
          <a:ext cx="7734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715201" imgH="457200" progId="Equation.DSMT4">
                  <p:embed/>
                </p:oleObj>
              </mc:Choice>
              <mc:Fallback>
                <p:oleObj name="Equation" r:id="rId18" imgW="7715201" imgH="457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636838"/>
                        <a:ext cx="7734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17">
            <a:extLst>
              <a:ext uri="{FF2B5EF4-FFF2-40B4-BE49-F238E27FC236}">
                <a16:creationId xmlns:a16="http://schemas.microsoft.com/office/drawing/2014/main" id="{F17EDB69-9F68-4C91-8F41-FB1CC5369F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465513"/>
          <a:ext cx="5154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137242" imgH="412519" progId="Equation.3">
                  <p:embed/>
                </p:oleObj>
              </mc:Choice>
              <mc:Fallback>
                <p:oleObj name="Equation" r:id="rId20" imgW="5137242" imgH="412519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465513"/>
                        <a:ext cx="51546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6" name="AutoShape 18">
            <a:extLst>
              <a:ext uri="{FF2B5EF4-FFF2-40B4-BE49-F238E27FC236}">
                <a16:creationId xmlns:a16="http://schemas.microsoft.com/office/drawing/2014/main" id="{FEEF26FD-8133-4C5C-81F7-2437ABF29E34}"/>
              </a:ext>
            </a:extLst>
          </p:cNvPr>
          <p:cNvSpPr>
            <a:spLocks/>
          </p:cNvSpPr>
          <p:nvPr/>
        </p:nvSpPr>
        <p:spPr bwMode="auto">
          <a:xfrm>
            <a:off x="7847013" y="3538538"/>
            <a:ext cx="230187" cy="914400"/>
          </a:xfrm>
          <a:prstGeom prst="rightBrace">
            <a:avLst>
              <a:gd name="adj1" fmla="val 33104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73747" name="Text Box 19">
            <a:extLst>
              <a:ext uri="{FF2B5EF4-FFF2-40B4-BE49-F238E27FC236}">
                <a16:creationId xmlns:a16="http://schemas.microsoft.com/office/drawing/2014/main" id="{F45720E7-0BB5-4DF3-86A1-189307EB1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938" y="3681413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线性运算</a:t>
            </a:r>
          </a:p>
        </p:txBody>
      </p:sp>
      <p:sp>
        <p:nvSpPr>
          <p:cNvPr id="73748" name="Text Box 20">
            <a:extLst>
              <a:ext uri="{FF2B5EF4-FFF2-40B4-BE49-F238E27FC236}">
                <a16:creationId xmlns:a16="http://schemas.microsoft.com/office/drawing/2014/main" id="{6CD92C15-D4E7-4BD3-8618-3887E7283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660900"/>
            <a:ext cx="27892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其元素称为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点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endParaRPr kumimoji="1" lang="zh-CN" altLang="en-US" sz="280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49" name="Text Box 21">
            <a:extLst>
              <a:ext uri="{FF2B5EF4-FFF2-40B4-BE49-F238E27FC236}">
                <a16:creationId xmlns:a16="http://schemas.microsoft.com/office/drawing/2014/main" id="{94B6039B-EC54-4274-A2A2-010AE798D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2688" y="4622800"/>
            <a:ext cx="1646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维向量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</a:p>
        </p:txBody>
      </p:sp>
      <p:sp>
        <p:nvSpPr>
          <p:cNvPr id="73750" name="Text Box 22">
            <a:extLst>
              <a:ext uri="{FF2B5EF4-FFF2-40B4-BE49-F238E27FC236}">
                <a16:creationId xmlns:a16="http://schemas.microsoft.com/office/drawing/2014/main" id="{342176E4-FC1F-4345-B3FA-8B381D922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51463"/>
            <a:ext cx="6305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 x</a:t>
            </a:r>
            <a:r>
              <a:rPr lang="en-US" altLang="zh-CN" sz="2800" i="1" baseline="-25000">
                <a:latin typeface="Times New Roman" panose="02020603050405020304" pitchFamily="18" charset="0"/>
                <a:ea typeface="楷体_GB2312" pitchFamily="49" charset="-122"/>
              </a:rPr>
              <a:t>i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称为 </a:t>
            </a:r>
            <a:r>
              <a:rPr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第 </a:t>
            </a: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个坐标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第 </a:t>
            </a:r>
            <a:r>
              <a:rPr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个分量</a:t>
            </a:r>
            <a:r>
              <a:rPr lang="en-US" altLang="zh-CN" sz="2800">
                <a:latin typeface="Times New Roman" panose="02020603050405020304" pitchFamily="18" charset="0"/>
                <a:ea typeface="楷体_GB2312" pitchFamily="49" charset="-122"/>
              </a:rPr>
              <a:t>.  </a:t>
            </a:r>
          </a:p>
        </p:txBody>
      </p:sp>
      <p:graphicFrame>
        <p:nvGraphicFramePr>
          <p:cNvPr id="73751" name="Object 23">
            <a:extLst>
              <a:ext uri="{FF2B5EF4-FFF2-40B4-BE49-F238E27FC236}">
                <a16:creationId xmlns:a16="http://schemas.microsoft.com/office/drawing/2014/main" id="{191C5CBE-2774-4CA7-B2BF-02FB2AA8F2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825" y="6172200"/>
          <a:ext cx="7569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581868" imgH="450965" progId="Equation.3">
                  <p:embed/>
                </p:oleObj>
              </mc:Choice>
              <mc:Fallback>
                <p:oleObj name="Equation" r:id="rId22" imgW="7581868" imgH="45096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6172200"/>
                        <a:ext cx="7569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2" name="Text Box 24">
            <a:extLst>
              <a:ext uri="{FF2B5EF4-FFF2-40B4-BE49-F238E27FC236}">
                <a16:creationId xmlns:a16="http://schemas.microsoft.com/office/drawing/2014/main" id="{5414D880-688B-4A66-9052-CE231CD68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1913" y="4660900"/>
            <a:ext cx="2544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称为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维空间</a:t>
            </a:r>
            <a:r>
              <a:rPr kumimoji="1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3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3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3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73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3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3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3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  <p:bldP spid="73733" grpId="0" autoUpdateAnimBg="0"/>
      <p:bldP spid="73735" grpId="0" autoUpdateAnimBg="0"/>
      <p:bldP spid="73738" grpId="0" autoUpdateAnimBg="0"/>
      <p:bldP spid="73742" grpId="0" autoUpdateAnimBg="0"/>
      <p:bldP spid="73746" grpId="0" animBg="1"/>
      <p:bldP spid="73747" grpId="0" build="p" autoUpdateAnimBg="0" advAuto="0"/>
      <p:bldP spid="73748" grpId="0" build="p" autoUpdateAnimBg="0"/>
      <p:bldP spid="73749" grpId="0" build="p" autoUpdateAnimBg="0" advAuto="0"/>
      <p:bldP spid="73750" grpId="0" build="p" autoUpdateAnimBg="0"/>
      <p:bldP spid="73752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2167495B-27AE-4DA9-8623-C027E91D1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8100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距离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定义为</a:t>
            </a:r>
          </a:p>
        </p:txBody>
      </p:sp>
      <p:graphicFrame>
        <p:nvGraphicFramePr>
          <p:cNvPr id="74755" name="Object 3">
            <a:extLst>
              <a:ext uri="{FF2B5EF4-FFF2-40B4-BE49-F238E27FC236}">
                <a16:creationId xmlns:a16="http://schemas.microsoft.com/office/drawing/2014/main" id="{DF288F19-7235-4B30-98C8-95BAED0180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066800"/>
          <a:ext cx="38973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9650" imgH="514350" progId="Equation.3">
                  <p:embed/>
                </p:oleObj>
              </mc:Choice>
              <mc:Fallback>
                <p:oleObj name="Equation" r:id="rId2" imgW="3879650" imgH="5143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066800"/>
                        <a:ext cx="38973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Text Box 4">
            <a:extLst>
              <a:ext uri="{FF2B5EF4-FFF2-40B4-BE49-F238E27FC236}">
                <a16:creationId xmlns:a16="http://schemas.microsoft.com/office/drawing/2014/main" id="{16E56B19-04BE-4E51-AAD3-957ED57E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50" y="5135563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中点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 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kumimoji="1"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邻域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为</a:t>
            </a:r>
            <a:endParaRPr kumimoji="1" lang="zh-CN" altLang="en-US" sz="2800" baseline="-25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BBAA1A2C-D462-419C-8445-3FBA151E2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482600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8399" imgH="412519" progId="Equation.3">
                  <p:embed/>
                </p:oleObj>
              </mc:Choice>
              <mc:Fallback>
                <p:oleObj name="Equation" r:id="rId4" imgW="2038399" imgH="4125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2600"/>
                        <a:ext cx="205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6">
            <a:extLst>
              <a:ext uri="{FF2B5EF4-FFF2-40B4-BE49-F238E27FC236}">
                <a16:creationId xmlns:a16="http://schemas.microsoft.com/office/drawing/2014/main" id="{359D4A15-1A96-4D5D-A78A-4D7E2BA9D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700" y="5135563"/>
          <a:ext cx="47990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781339" imgH="476423" progId="Equation.3">
                  <p:embed/>
                </p:oleObj>
              </mc:Choice>
              <mc:Fallback>
                <p:oleObj name="Equation" r:id="rId6" imgW="4781339" imgH="47642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5135563"/>
                        <a:ext cx="47990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>
            <a:extLst>
              <a:ext uri="{FF2B5EF4-FFF2-40B4-BE49-F238E27FC236}">
                <a16:creationId xmlns:a16="http://schemas.microsoft.com/office/drawing/2014/main" id="{617264FE-B203-48A8-AFBA-6DCA9B2013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457200"/>
          <a:ext cx="35274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05070" imgH="457200" progId="Equation.3">
                  <p:embed/>
                </p:oleObj>
              </mc:Choice>
              <mc:Fallback>
                <p:oleObj name="Equation" r:id="rId8" imgW="350507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457200"/>
                        <a:ext cx="35274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0" name="Object 8">
            <a:extLst>
              <a:ext uri="{FF2B5EF4-FFF2-40B4-BE49-F238E27FC236}">
                <a16:creationId xmlns:a16="http://schemas.microsoft.com/office/drawing/2014/main" id="{8126376E-35F0-49FA-99C0-B76BB65795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7225" y="1066800"/>
          <a:ext cx="25892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1734" imgH="437977" progId="Equation.3">
                  <p:embed/>
                </p:oleObj>
              </mc:Choice>
              <mc:Fallback>
                <p:oleObj name="Equation" r:id="rId10" imgW="2571734" imgH="43797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7225" y="1066800"/>
                        <a:ext cx="25892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1" name="Object 9">
            <a:extLst>
              <a:ext uri="{FF2B5EF4-FFF2-40B4-BE49-F238E27FC236}">
                <a16:creationId xmlns:a16="http://schemas.microsoft.com/office/drawing/2014/main" id="{90804F66-CC7A-459A-907B-DA800ECF2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1100" y="1944688"/>
          <a:ext cx="3668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51374" imgH="437977" progId="Equation.3">
                  <p:embed/>
                </p:oleObj>
              </mc:Choice>
              <mc:Fallback>
                <p:oleObj name="Equation" r:id="rId12" imgW="3651374" imgH="43797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1944688"/>
                        <a:ext cx="3668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2" name="Text Box 10">
            <a:extLst>
              <a:ext uri="{FF2B5EF4-FFF2-40B4-BE49-F238E27FC236}">
                <a16:creationId xmlns:a16="http://schemas.microsoft.com/office/drawing/2014/main" id="{E61A09DA-1544-4331-A5A2-41F6C716D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1944688"/>
            <a:ext cx="3028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与零元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的距离为</a:t>
            </a:r>
          </a:p>
        </p:txBody>
      </p:sp>
      <p:graphicFrame>
        <p:nvGraphicFramePr>
          <p:cNvPr id="74763" name="Object 11">
            <a:extLst>
              <a:ext uri="{FF2B5EF4-FFF2-40B4-BE49-F238E27FC236}">
                <a16:creationId xmlns:a16="http://schemas.microsoft.com/office/drawing/2014/main" id="{2671952B-2CCC-4755-B3D0-7F2CC066FD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2562225"/>
          <a:ext cx="340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84707" imgH="514350" progId="Equation.3">
                  <p:embed/>
                </p:oleObj>
              </mc:Choice>
              <mc:Fallback>
                <p:oleObj name="Equation" r:id="rId14" imgW="3384707" imgH="51435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562225"/>
                        <a:ext cx="3403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4" name="Object 12">
            <a:extLst>
              <a:ext uri="{FF2B5EF4-FFF2-40B4-BE49-F238E27FC236}">
                <a16:creationId xmlns:a16="http://schemas.microsoft.com/office/drawing/2014/main" id="{D32ED5C7-899D-411D-AEE6-5E56E30CF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72150" y="2633663"/>
          <a:ext cx="4737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718045" imgH="450965" progId="Equation.3">
                  <p:embed/>
                </p:oleObj>
              </mc:Choice>
              <mc:Fallback>
                <p:oleObj name="Equation" r:id="rId16" imgW="4718045" imgH="4509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150" y="2633663"/>
                        <a:ext cx="4737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13">
            <a:extLst>
              <a:ext uri="{FF2B5EF4-FFF2-40B4-BE49-F238E27FC236}">
                <a16:creationId xmlns:a16="http://schemas.microsoft.com/office/drawing/2014/main" id="{56AC418F-CC82-4C57-B4E7-8C0985CD83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7938" y="3387725"/>
          <a:ext cx="6096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76804" imgH="476423" progId="Equation.3">
                  <p:embed/>
                </p:oleObj>
              </mc:Choice>
              <mc:Fallback>
                <p:oleObj name="Equation" r:id="rId18" imgW="6076804" imgH="47642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3387725"/>
                        <a:ext cx="6096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>
            <a:extLst>
              <a:ext uri="{FF2B5EF4-FFF2-40B4-BE49-F238E27FC236}">
                <a16:creationId xmlns:a16="http://schemas.microsoft.com/office/drawing/2014/main" id="{257136CC-817A-4183-9616-B4E61DDC82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31413" y="3429000"/>
          <a:ext cx="176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46309" imgH="412519" progId="Equation.3">
                  <p:embed/>
                </p:oleObj>
              </mc:Choice>
              <mc:Fallback>
                <p:oleObj name="Equation" r:id="rId20" imgW="1746309" imgH="412519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1413" y="3429000"/>
                        <a:ext cx="1765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7" name="Object 15">
            <a:extLst>
              <a:ext uri="{FF2B5EF4-FFF2-40B4-BE49-F238E27FC236}">
                <a16:creationId xmlns:a16="http://schemas.microsoft.com/office/drawing/2014/main" id="{E1BE6500-A7AB-4214-9460-775BCB6132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2863" y="5135563"/>
          <a:ext cx="46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0845" imgH="412519" progId="Equation.3">
                  <p:embed/>
                </p:oleObj>
              </mc:Choice>
              <mc:Fallback>
                <p:oleObj name="Equation" r:id="rId22" imgW="450845" imgH="412519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5135563"/>
                        <a:ext cx="46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>
            <a:extLst>
              <a:ext uri="{FF2B5EF4-FFF2-40B4-BE49-F238E27FC236}">
                <a16:creationId xmlns:a16="http://schemas.microsoft.com/office/drawing/2014/main" id="{096D9F4E-36D8-4E59-AA79-DD79516923FB}"/>
              </a:ext>
            </a:extLst>
          </p:cNvPr>
          <p:cNvGrpSpPr>
            <a:grpSpLocks/>
          </p:cNvGrpSpPr>
          <p:nvPr/>
        </p:nvGrpSpPr>
        <p:grpSpPr bwMode="auto">
          <a:xfrm>
            <a:off x="6313488" y="884238"/>
            <a:ext cx="700087" cy="460375"/>
            <a:chOff x="3926" y="670"/>
            <a:chExt cx="441" cy="290"/>
          </a:xfrm>
        </p:grpSpPr>
        <p:grpSp>
          <p:nvGrpSpPr>
            <p:cNvPr id="25622" name="Group 17">
              <a:extLst>
                <a:ext uri="{FF2B5EF4-FFF2-40B4-BE49-F238E27FC236}">
                  <a16:creationId xmlns:a16="http://schemas.microsoft.com/office/drawing/2014/main" id="{A9B444B9-96D9-43AE-9D1E-F87EED6CE8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912"/>
              <a:ext cx="317" cy="48"/>
              <a:chOff x="3936" y="864"/>
              <a:chExt cx="576" cy="48"/>
            </a:xfrm>
          </p:grpSpPr>
          <p:sp>
            <p:nvSpPr>
              <p:cNvPr id="25624" name="Line 18">
                <a:extLst>
                  <a:ext uri="{FF2B5EF4-FFF2-40B4-BE49-F238E27FC236}">
                    <a16:creationId xmlns:a16="http://schemas.microsoft.com/office/drawing/2014/main" id="{2A1CD5CA-60DF-4909-9F14-3642968223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86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5" name="Line 19">
                <a:extLst>
                  <a:ext uri="{FF2B5EF4-FFF2-40B4-BE49-F238E27FC236}">
                    <a16:creationId xmlns:a16="http://schemas.microsoft.com/office/drawing/2014/main" id="{37E21EA1-4234-4826-AD7F-51C364F4D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912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47" name="Text Box 20">
              <a:extLst>
                <a:ext uri="{FF2B5EF4-FFF2-40B4-BE49-F238E27FC236}">
                  <a16:creationId xmlns:a16="http://schemas.microsoft.com/office/drawing/2014/main" id="{5215EE62-A587-4FEB-BC20-85CD084F9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670"/>
              <a:ext cx="4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  <a:defRPr/>
              </a:pPr>
              <a:r>
                <a:rPr kumimoji="1" lang="zh-CN" altLang="en-US" sz="2000" b="1" dirty="0">
                  <a:solidFill>
                    <a:schemeClr val="accent1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</a:p>
          </p:txBody>
        </p:sp>
      </p:grpSp>
      <p:sp>
        <p:nvSpPr>
          <p:cNvPr id="74773" name="Text Box 21">
            <a:extLst>
              <a:ext uri="{FF2B5EF4-FFF2-40B4-BE49-F238E27FC236}">
                <a16:creationId xmlns:a16="http://schemas.microsoft.com/office/drawing/2014/main" id="{C5FE1B1E-87ED-4E4C-9AD3-1DC7FB9C5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188" y="3387725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则称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4774" name="Object 22">
            <a:extLst>
              <a:ext uri="{FF2B5EF4-FFF2-40B4-BE49-F238E27FC236}">
                <a16:creationId xmlns:a16="http://schemas.microsoft.com/office/drawing/2014/main" id="{76AA2D67-6079-4E06-B351-0F7F28741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346575"/>
          <a:ext cx="499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72261" imgH="412519" progId="Equation.3">
                  <p:embed/>
                </p:oleObj>
              </mc:Choice>
              <mc:Fallback>
                <p:oleObj name="Equation" r:id="rId24" imgW="4972261" imgH="41251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346575"/>
                        <a:ext cx="499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5" name="Object 23">
            <a:extLst>
              <a:ext uri="{FF2B5EF4-FFF2-40B4-BE49-F238E27FC236}">
                <a16:creationId xmlns:a16="http://schemas.microsoft.com/office/drawing/2014/main" id="{6234048F-3889-4FC4-AFB1-ED7CA29BD7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2538" y="4333875"/>
          <a:ext cx="300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90931" imgH="412519" progId="Equation.3">
                  <p:embed/>
                </p:oleObj>
              </mc:Choice>
              <mc:Fallback>
                <p:oleObj name="Equation" r:id="rId26" imgW="2990931" imgH="41251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333875"/>
                        <a:ext cx="3009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6" name="Text Box 24">
            <a:extLst>
              <a:ext uri="{FF2B5EF4-FFF2-40B4-BE49-F238E27FC236}">
                <a16:creationId xmlns:a16="http://schemas.microsoft.com/office/drawing/2014/main" id="{B2D8E4DC-1E19-4548-BE33-DA5839601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4275138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显然</a:t>
            </a:r>
          </a:p>
        </p:txBody>
      </p:sp>
      <p:sp>
        <p:nvSpPr>
          <p:cNvPr id="74777" name="Text Box 25">
            <a:extLst>
              <a:ext uri="{FF2B5EF4-FFF2-40B4-BE49-F238E27FC236}">
                <a16:creationId xmlns:a16="http://schemas.microsoft.com/office/drawing/2014/main" id="{0303CC7D-B2C7-4FFA-AC79-D3FD1799C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675" y="3387725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趋于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4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4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47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4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47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74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utoUpdateAnimBg="0"/>
      <p:bldP spid="74762" grpId="0" build="p" autoUpdateAnimBg="0" advAuto="0"/>
      <p:bldP spid="74773" grpId="0" build="p" autoUpdateAnimBg="0"/>
      <p:bldP spid="74776" grpId="0" build="p" autoUpdateAnimBg="0"/>
      <p:bldP spid="74777" grpId="0" build="p" autoUpdateAnimBg="0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2">
            <a:extLst>
              <a:ext uri="{FF2B5EF4-FFF2-40B4-BE49-F238E27FC236}">
                <a16:creationId xmlns:a16="http://schemas.microsoft.com/office/drawing/2014/main" id="{B881FA51-BC81-4258-820B-0D3050C6BF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1863" y="44450"/>
            <a:ext cx="4572000" cy="6096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b="1" dirty="0">
                <a:solidFill>
                  <a:schemeClr val="accent1">
                    <a:lumMod val="50000"/>
                  </a:schemeClr>
                </a:solidFill>
                <a:latin typeface="楷体_GB2312" pitchFamily="49" charset="-122"/>
                <a:ea typeface="楷体_GB2312" pitchFamily="49" charset="-122"/>
              </a:rPr>
              <a:t>二、多元函数的概念  </a:t>
            </a:r>
          </a:p>
        </p:txBody>
      </p:sp>
      <p:sp>
        <p:nvSpPr>
          <p:cNvPr id="10250" name="Rectangle 28">
            <a:extLst>
              <a:ext uri="{FF2B5EF4-FFF2-40B4-BE49-F238E27FC236}">
                <a16:creationId xmlns:a16="http://schemas.microsoft.com/office/drawing/2014/main" id="{8E6A37E3-DB1E-4238-AD5D-826CA759D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03300"/>
            <a:ext cx="3276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楷体_GB2312" pitchFamily="49" charset="-122"/>
              </a:rPr>
              <a:t>1.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ea typeface="楷体_GB2312" pitchFamily="49" charset="-122"/>
              </a:rPr>
              <a:t>定义 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设非空点集</a:t>
            </a:r>
            <a:endParaRPr lang="zh-CN" altLang="en-US" sz="2800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628" name="Object 29">
            <a:extLst>
              <a:ext uri="{FF2B5EF4-FFF2-40B4-BE49-F238E27FC236}">
                <a16:creationId xmlns:a16="http://schemas.microsoft.com/office/drawing/2014/main" id="{7C820A9C-1DA9-4043-82C0-B33C02DC40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4413" y="1050925"/>
          <a:ext cx="1320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465" imgH="476423" progId="Equation.3">
                  <p:embed/>
                </p:oleObj>
              </mc:Choice>
              <mc:Fallback>
                <p:oleObj name="Equation" r:id="rId2" imgW="1295465" imgH="47642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1050925"/>
                        <a:ext cx="1320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6" name="Object 30">
            <a:extLst>
              <a:ext uri="{FF2B5EF4-FFF2-40B4-BE49-F238E27FC236}">
                <a16:creationId xmlns:a16="http://schemas.microsoft.com/office/drawing/2014/main" id="{8A6FE441-C6D1-4E1C-9363-691DD67577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5038" y="2244725"/>
          <a:ext cx="287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1372" imgH="419273" progId="Equation.3">
                  <p:embed/>
                </p:oleObj>
              </mc:Choice>
              <mc:Fallback>
                <p:oleObj name="Equation" r:id="rId4" imgW="2851372" imgH="419273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2244725"/>
                        <a:ext cx="287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7" name="Text Box 31">
            <a:extLst>
              <a:ext uri="{FF2B5EF4-FFF2-40B4-BE49-F238E27FC236}">
                <a16:creationId xmlns:a16="http://schemas.microsoft.com/office/drawing/2014/main" id="{0D1C0475-8DF9-4307-A383-E5D73A4D0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2808288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点集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 i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称为函数的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定义域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;  </a:t>
            </a:r>
          </a:p>
        </p:txBody>
      </p:sp>
      <p:sp>
        <p:nvSpPr>
          <p:cNvPr id="75808" name="Text Box 32">
            <a:extLst>
              <a:ext uri="{FF2B5EF4-FFF2-40B4-BE49-F238E27FC236}">
                <a16:creationId xmlns:a16="http://schemas.microsoft.com/office/drawing/2014/main" id="{3943B73A-CDF4-4005-A4B3-B6C2F4CC0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34813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数集</a:t>
            </a:r>
          </a:p>
        </p:txBody>
      </p:sp>
      <p:graphicFrame>
        <p:nvGraphicFramePr>
          <p:cNvPr id="75809" name="Object 33">
            <a:extLst>
              <a:ext uri="{FF2B5EF4-FFF2-40B4-BE49-F238E27FC236}">
                <a16:creationId xmlns:a16="http://schemas.microsoft.com/office/drawing/2014/main" id="{1E9A8BF6-1948-4CF9-A36D-0B721DD977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6813" y="3522663"/>
          <a:ext cx="32607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38403" imgH="450965" progId="Equation.3">
                  <p:embed/>
                </p:oleObj>
              </mc:Choice>
              <mc:Fallback>
                <p:oleObj name="Equation" r:id="rId6" imgW="3238403" imgH="450965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813" y="3522663"/>
                        <a:ext cx="32607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0" name="Text Box 34">
            <a:extLst>
              <a:ext uri="{FF2B5EF4-FFF2-40B4-BE49-F238E27FC236}">
                <a16:creationId xmlns:a16="http://schemas.microsoft.com/office/drawing/2014/main" id="{52058162-CEA8-4241-A793-182EBE2A8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538" y="347345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称为函数的</a:t>
            </a:r>
            <a:r>
              <a:rPr kumimoji="1" lang="zh-CN" altLang="en-US" sz="28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值域</a:t>
            </a:r>
            <a:r>
              <a:rPr kumimoji="1" lang="zh-CN" altLang="en-US" sz="2800" b="1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75811" name="Text Box 35">
            <a:extLst>
              <a:ext uri="{FF2B5EF4-FFF2-40B4-BE49-F238E27FC236}">
                <a16:creationId xmlns:a16="http://schemas.microsoft.com/office/drawing/2014/main" id="{ED01223B-E43C-4B43-8384-8D02BC427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46863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特别地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= 2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有二元函数</a:t>
            </a:r>
          </a:p>
        </p:txBody>
      </p:sp>
      <p:graphicFrame>
        <p:nvGraphicFramePr>
          <p:cNvPr id="75812" name="Object 36">
            <a:extLst>
              <a:ext uri="{FF2B5EF4-FFF2-40B4-BE49-F238E27FC236}">
                <a16:creationId xmlns:a16="http://schemas.microsoft.com/office/drawing/2014/main" id="{322F87EE-E087-4DAB-B90F-311B79E82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3863" y="4638675"/>
          <a:ext cx="4470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51377" imgH="495127" progId="Equation.3">
                  <p:embed/>
                </p:oleObj>
              </mc:Choice>
              <mc:Fallback>
                <p:oleObj name="Equation" r:id="rId8" imgW="4451377" imgH="49512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3863" y="4638675"/>
                        <a:ext cx="44704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3" name="Text Box 37">
            <a:extLst>
              <a:ext uri="{FF2B5EF4-FFF2-40B4-BE49-F238E27FC236}">
                <a16:creationId xmlns:a16="http://schemas.microsoft.com/office/drawing/2014/main" id="{4B52A8AB-0635-4F5F-AC76-3D3FFC3F3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4638" y="55197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= 3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有三元函数</a:t>
            </a:r>
          </a:p>
        </p:txBody>
      </p:sp>
      <p:graphicFrame>
        <p:nvGraphicFramePr>
          <p:cNvPr id="75814" name="Object 38">
            <a:extLst>
              <a:ext uri="{FF2B5EF4-FFF2-40B4-BE49-F238E27FC236}">
                <a16:creationId xmlns:a16="http://schemas.microsoft.com/office/drawing/2014/main" id="{46A840ED-ABC7-446E-9A73-074BCB317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0225" y="5446713"/>
          <a:ext cx="5078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060977" imgH="495127" progId="Equation.3">
                  <p:embed/>
                </p:oleObj>
              </mc:Choice>
              <mc:Fallback>
                <p:oleObj name="Equation" r:id="rId10" imgW="5060977" imgH="495127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5446713"/>
                        <a:ext cx="5078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5" name="Text Box 39">
            <a:extLst>
              <a:ext uri="{FF2B5EF4-FFF2-40B4-BE49-F238E27FC236}">
                <a16:creationId xmlns:a16="http://schemas.microsoft.com/office/drawing/2014/main" id="{92E98A9D-4924-4864-BEE2-01A40D6BA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8" y="1739900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 pitchFamily="49" charset="-122"/>
                <a:ea typeface="楷体_GB2312" pitchFamily="49" charset="-122"/>
              </a:rPr>
              <a:t>映射</a:t>
            </a:r>
          </a:p>
        </p:txBody>
      </p:sp>
      <p:graphicFrame>
        <p:nvGraphicFramePr>
          <p:cNvPr id="75816" name="Object 40">
            <a:extLst>
              <a:ext uri="{FF2B5EF4-FFF2-40B4-BE49-F238E27FC236}">
                <a16:creationId xmlns:a16="http://schemas.microsoft.com/office/drawing/2014/main" id="{3D96F7C1-177D-4624-A324-9E49E00AE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1888" y="1841500"/>
          <a:ext cx="16113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93780" imgH="380827" progId="Equation.3">
                  <p:embed/>
                </p:oleObj>
              </mc:Choice>
              <mc:Fallback>
                <p:oleObj name="Equation" r:id="rId12" imgW="1593780" imgH="380827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1888" y="1841500"/>
                        <a:ext cx="16113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7" name="Text Box 41">
            <a:extLst>
              <a:ext uri="{FF2B5EF4-FFF2-40B4-BE49-F238E27FC236}">
                <a16:creationId xmlns:a16="http://schemas.microsoft.com/office/drawing/2014/main" id="{252ECF85-A315-470D-A69B-771E40622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4938" y="171450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称为定义</a:t>
            </a:r>
          </a:p>
        </p:txBody>
      </p:sp>
      <p:sp>
        <p:nvSpPr>
          <p:cNvPr id="75818" name="Text Box 42">
            <a:extLst>
              <a:ext uri="{FF2B5EF4-FFF2-40B4-BE49-F238E27FC236}">
                <a16:creationId xmlns:a16="http://schemas.microsoft.com/office/drawing/2014/main" id="{52A77BB2-E7D9-4391-B591-F46414CB3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163" y="169227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1" lang="zh-CN" altLang="en-US" sz="28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上的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元函数</a:t>
            </a:r>
            <a:r>
              <a:rPr kumimoji="1"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75819" name="Object 43">
            <a:extLst>
              <a:ext uri="{FF2B5EF4-FFF2-40B4-BE49-F238E27FC236}">
                <a16:creationId xmlns:a16="http://schemas.microsoft.com/office/drawing/2014/main" id="{77076DF9-A61D-472B-B224-802ABEF84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4825" y="2263775"/>
          <a:ext cx="2944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27118" imgH="419273" progId="Equation.3">
                  <p:embed/>
                </p:oleObj>
              </mc:Choice>
              <mc:Fallback>
                <p:oleObj name="Equation" r:id="rId14" imgW="2927118" imgH="419273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825" y="2263775"/>
                        <a:ext cx="29448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5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5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58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807" grpId="0" autoUpdateAnimBg="0"/>
      <p:bldP spid="75808" grpId="0" autoUpdateAnimBg="0"/>
      <p:bldP spid="75810" grpId="0" autoUpdateAnimBg="0"/>
      <p:bldP spid="75811" grpId="0" autoUpdateAnimBg="0"/>
      <p:bldP spid="75813" grpId="0" build="p" autoUpdateAnimBg="0"/>
      <p:bldP spid="75815" grpId="0" build="p" autoUpdateAnimBg="0"/>
      <p:bldP spid="75817" grpId="0" autoUpdateAnimBg="0"/>
      <p:bldP spid="75818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5">
            <a:extLst>
              <a:ext uri="{FF2B5EF4-FFF2-40B4-BE49-F238E27FC236}">
                <a16:creationId xmlns:a16="http://schemas.microsoft.com/office/drawing/2014/main" id="{73CBAAF6-FAFF-42B3-9AE4-5F8C89BF13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1200" y="1416050"/>
          <a:ext cx="12779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600" imgH="183919" progId="Equation.DSMT4">
                  <p:embed/>
                </p:oleObj>
              </mc:Choice>
              <mc:Fallback>
                <p:oleObj name="Equation" r:id="rId3" imgW="609600" imgH="18391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0" y="1416050"/>
                        <a:ext cx="127793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6">
            <a:extLst>
              <a:ext uri="{FF2B5EF4-FFF2-40B4-BE49-F238E27FC236}">
                <a16:creationId xmlns:a16="http://schemas.microsoft.com/office/drawing/2014/main" id="{A01244F1-C94F-40C2-8634-7C2ADF3C2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371600"/>
            <a:ext cx="216058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②</a:t>
            </a:r>
            <a:r>
              <a:rPr kumimoji="1"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</a:p>
        </p:txBody>
      </p:sp>
      <p:sp>
        <p:nvSpPr>
          <p:cNvPr id="27652" name="Rectangle 8">
            <a:extLst>
              <a:ext uri="{FF2B5EF4-FFF2-40B4-BE49-F238E27FC236}">
                <a16:creationId xmlns:a16="http://schemas.microsoft.com/office/drawing/2014/main" id="{1530A230-0D91-48D2-9249-E941E3133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2800" y="1339850"/>
            <a:ext cx="33782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  <a:buFontTx/>
              <a:buNone/>
            </a:pPr>
            <a:r>
              <a:rPr kumimoji="1"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的定义域应是什么？</a:t>
            </a:r>
          </a:p>
        </p:txBody>
      </p:sp>
      <p:sp>
        <p:nvSpPr>
          <p:cNvPr id="27653" name="Rectangle 10">
            <a:extLst>
              <a:ext uri="{FF2B5EF4-FFF2-40B4-BE49-F238E27FC236}">
                <a16:creationId xmlns:a16="http://schemas.microsoft.com/office/drawing/2014/main" id="{34F6A1AC-5535-473E-8520-A4A434075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963" y="3197225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27654" name="Group 18">
            <a:extLst>
              <a:ext uri="{FF2B5EF4-FFF2-40B4-BE49-F238E27FC236}">
                <a16:creationId xmlns:a16="http://schemas.microsoft.com/office/drawing/2014/main" id="{16F8D540-976D-4F63-B002-E462820AB081}"/>
              </a:ext>
            </a:extLst>
          </p:cNvPr>
          <p:cNvGrpSpPr>
            <a:grpSpLocks/>
          </p:cNvGrpSpPr>
          <p:nvPr/>
        </p:nvGrpSpPr>
        <p:grpSpPr bwMode="auto">
          <a:xfrm>
            <a:off x="1985963" y="534988"/>
            <a:ext cx="7648575" cy="504825"/>
            <a:chOff x="312" y="763"/>
            <a:chExt cx="4818" cy="318"/>
          </a:xfrm>
        </p:grpSpPr>
        <p:sp>
          <p:nvSpPr>
            <p:cNvPr id="27669" name="Text Box 19">
              <a:extLst>
                <a:ext uri="{FF2B5EF4-FFF2-40B4-BE49-F238E27FC236}">
                  <a16:creationId xmlns:a16="http://schemas.microsoft.com/office/drawing/2014/main" id="{46CD6E7D-075E-4E4A-A2D6-0E65DE6E4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" y="764"/>
              <a:ext cx="21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①</a:t>
              </a:r>
              <a:r>
                <a:rPr kumimoji="1" lang="zh-CN" altLang="en-US" sz="2600" b="1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作为圆柱体的体积</a:t>
              </a:r>
            </a:p>
          </p:txBody>
        </p:sp>
        <p:sp>
          <p:nvSpPr>
            <p:cNvPr id="27670" name="Rectangle 20">
              <a:extLst>
                <a:ext uri="{FF2B5EF4-FFF2-40B4-BE49-F238E27FC236}">
                  <a16:creationId xmlns:a16="http://schemas.microsoft.com/office/drawing/2014/main" id="{BA6F6B4C-EC10-4FFD-8687-D51FC48A0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763"/>
              <a:ext cx="2096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>
                  <a:solidFill>
                    <a:schemeClr val="bg2"/>
                  </a:solidFill>
                  <a:latin typeface="宋体" panose="02010600030101010101" pitchFamily="2" charset="-122"/>
                </a:rPr>
                <a:t> </a:t>
              </a:r>
              <a:r>
                <a:rPr kumimoji="1" lang="zh-CN" altLang="en-US" sz="2600" b="1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其定义域是什么？</a:t>
              </a:r>
            </a:p>
          </p:txBody>
        </p:sp>
        <p:graphicFrame>
          <p:nvGraphicFramePr>
            <p:cNvPr id="27671" name="Object 21">
              <a:extLst>
                <a:ext uri="{FF2B5EF4-FFF2-40B4-BE49-F238E27FC236}">
                  <a16:creationId xmlns:a16="http://schemas.microsoft.com/office/drawing/2014/main" id="{C10980D1-6F64-4753-AE47-E9834786DE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5" y="799"/>
            <a:ext cx="805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09600" imgH="183919" progId="Equation.DSMT4">
                    <p:embed/>
                  </p:oleObj>
                </mc:Choice>
                <mc:Fallback>
                  <p:oleObj name="Equation" r:id="rId5" imgW="609600" imgH="183919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799"/>
                          <a:ext cx="805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5" name="Object 23">
            <a:extLst>
              <a:ext uri="{FF2B5EF4-FFF2-40B4-BE49-F238E27FC236}">
                <a16:creationId xmlns:a16="http://schemas.microsoft.com/office/drawing/2014/main" id="{7CAAF4F4-E46E-4D30-A450-8CCFE9E51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963" y="2466975"/>
          <a:ext cx="4038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726451" imgH="253890" progId="Equation.3">
                  <p:embed/>
                </p:oleObj>
              </mc:Choice>
              <mc:Fallback>
                <p:oleObj name="公式" r:id="rId7" imgW="1726451" imgH="25389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2466975"/>
                        <a:ext cx="40386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8" name="Object 24">
            <a:extLst>
              <a:ext uri="{FF2B5EF4-FFF2-40B4-BE49-F238E27FC236}">
                <a16:creationId xmlns:a16="http://schemas.microsoft.com/office/drawing/2014/main" id="{F90D6D19-A3F6-413E-9D17-34E449CFD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3314700"/>
          <a:ext cx="39846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707918" imgH="228600" progId="Equation.3">
                  <p:embed/>
                </p:oleObj>
              </mc:Choice>
              <mc:Fallback>
                <p:oleObj name="公式" r:id="rId9" imgW="1707918" imgH="2286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3314700"/>
                        <a:ext cx="39846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9" name="Object 25">
            <a:extLst>
              <a:ext uri="{FF2B5EF4-FFF2-40B4-BE49-F238E27FC236}">
                <a16:creationId xmlns:a16="http://schemas.microsoft.com/office/drawing/2014/main" id="{F187B1B5-AF71-4EB6-A23B-3207A76AFE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5963" y="4030663"/>
          <a:ext cx="67373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895470" imgH="228600" progId="Equation.3">
                  <p:embed/>
                </p:oleObj>
              </mc:Choice>
              <mc:Fallback>
                <p:oleObj name="公式" r:id="rId11" imgW="289547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4030663"/>
                        <a:ext cx="673735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50" name="Object 26">
            <a:extLst>
              <a:ext uri="{FF2B5EF4-FFF2-40B4-BE49-F238E27FC236}">
                <a16:creationId xmlns:a16="http://schemas.microsoft.com/office/drawing/2014/main" id="{16535689-2C6F-4BC2-85B5-25A57A732C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4762500"/>
          <a:ext cx="41703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746309" imgH="228600" progId="Equation.3">
                  <p:embed/>
                </p:oleObj>
              </mc:Choice>
              <mc:Fallback>
                <p:oleObj name="公式" r:id="rId13" imgW="1746309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4762500"/>
                        <a:ext cx="417036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>
            <a:extLst>
              <a:ext uri="{FF2B5EF4-FFF2-40B4-BE49-F238E27FC236}">
                <a16:creationId xmlns:a16="http://schemas.microsoft.com/office/drawing/2014/main" id="{9D9B58A9-78BD-4CC3-9463-B54FD777DEE3}"/>
              </a:ext>
            </a:extLst>
          </p:cNvPr>
          <p:cNvGrpSpPr>
            <a:grpSpLocks/>
          </p:cNvGrpSpPr>
          <p:nvPr/>
        </p:nvGrpSpPr>
        <p:grpSpPr bwMode="auto">
          <a:xfrm>
            <a:off x="8685213" y="1717675"/>
            <a:ext cx="1373187" cy="1406525"/>
            <a:chOff x="4511" y="528"/>
            <a:chExt cx="865" cy="886"/>
          </a:xfrm>
        </p:grpSpPr>
        <p:sp>
          <p:nvSpPr>
            <p:cNvPr id="27661" name="Freeform 28">
              <a:extLst>
                <a:ext uri="{FF2B5EF4-FFF2-40B4-BE49-F238E27FC236}">
                  <a16:creationId xmlns:a16="http://schemas.microsoft.com/office/drawing/2014/main" id="{D910A8D8-46F5-4777-82C1-2AD1F5B06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624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w 672"/>
                <a:gd name="T7" fmla="*/ 0 h 672"/>
                <a:gd name="T8" fmla="*/ 0 w 672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2"/>
                <a:gd name="T16" fmla="*/ 0 h 672"/>
                <a:gd name="T17" fmla="*/ 672 w 672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  <a:lnTo>
                    <a:pt x="0" y="0"/>
                  </a:lnTo>
                  <a:lnTo>
                    <a:pt x="0" y="672"/>
                  </a:lnTo>
                  <a:close/>
                </a:path>
              </a:pathLst>
            </a:cu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Oval 29">
              <a:extLst>
                <a:ext uri="{FF2B5EF4-FFF2-40B4-BE49-F238E27FC236}">
                  <a16:creationId xmlns:a16="http://schemas.microsoft.com/office/drawing/2014/main" id="{3E66AFC9-2DFF-4081-B29A-235C636B8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2" y="528"/>
              <a:ext cx="672" cy="192"/>
            </a:xfrm>
            <a:prstGeom prst="ellipse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27663" name="Object 30">
              <a:extLst>
                <a:ext uri="{FF2B5EF4-FFF2-40B4-BE49-F238E27FC236}">
                  <a16:creationId xmlns:a16="http://schemas.microsoft.com/office/drawing/2014/main" id="{1555C983-00F6-45E7-8DE5-5B1EE82806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2" y="864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9599" imgH="304973" progId="Equation.3">
                    <p:embed/>
                  </p:oleObj>
                </mc:Choice>
                <mc:Fallback>
                  <p:oleObj name="Equation" r:id="rId15" imgW="209599" imgH="304973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864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4" name="Object 31">
              <a:extLst>
                <a:ext uri="{FF2B5EF4-FFF2-40B4-BE49-F238E27FC236}">
                  <a16:creationId xmlns:a16="http://schemas.microsoft.com/office/drawing/2014/main" id="{B49C3CE0-95C1-43B2-950C-0BDC31FFB7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528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84177" imgH="209377" progId="Equation.3">
                    <p:embed/>
                  </p:oleObj>
                </mc:Choice>
                <mc:Fallback>
                  <p:oleObj name="Equation" r:id="rId17" imgW="184177" imgH="209377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528"/>
                          <a:ext cx="12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665" name="Group 32">
              <a:extLst>
                <a:ext uri="{FF2B5EF4-FFF2-40B4-BE49-F238E27FC236}">
                  <a16:creationId xmlns:a16="http://schemas.microsoft.com/office/drawing/2014/main" id="{F9554CDA-8CAA-4136-B606-6757980FA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1174"/>
              <a:ext cx="676" cy="240"/>
              <a:chOff x="4504" y="1441"/>
              <a:chExt cx="683" cy="240"/>
            </a:xfrm>
          </p:grpSpPr>
          <p:sp>
            <p:nvSpPr>
              <p:cNvPr id="27667" name="Arc 33">
                <a:extLst>
                  <a:ext uri="{FF2B5EF4-FFF2-40B4-BE49-F238E27FC236}">
                    <a16:creationId xmlns:a16="http://schemas.microsoft.com/office/drawing/2014/main" id="{8721500F-2856-432B-94E3-37E2C7687F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1540"/>
                <a:ext cx="672" cy="141"/>
              </a:xfrm>
              <a:custGeom>
                <a:avLst/>
                <a:gdLst>
                  <a:gd name="T0" fmla="*/ 0 w 42698"/>
                  <a:gd name="T1" fmla="*/ 0 h 25353"/>
                  <a:gd name="T2" fmla="*/ 0 w 42698"/>
                  <a:gd name="T3" fmla="*/ 0 h 25353"/>
                  <a:gd name="T4" fmla="*/ 0 w 42698"/>
                  <a:gd name="T5" fmla="*/ 0 h 25353"/>
                  <a:gd name="T6" fmla="*/ 0 60000 65536"/>
                  <a:gd name="T7" fmla="*/ 0 60000 65536"/>
                  <a:gd name="T8" fmla="*/ 0 60000 65536"/>
                  <a:gd name="T9" fmla="*/ 0 w 42698"/>
                  <a:gd name="T10" fmla="*/ 0 h 25353"/>
                  <a:gd name="T11" fmla="*/ 42698 w 42698"/>
                  <a:gd name="T12" fmla="*/ 25353 h 253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98" h="25353" fill="none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</a:path>
                  <a:path w="42698" h="25353" stroke="0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  <a:lnTo>
                      <a:pt x="21098" y="3753"/>
                    </a:lnTo>
                    <a:lnTo>
                      <a:pt x="42369" y="0"/>
                    </a:lnTo>
                    <a:close/>
                  </a:path>
                </a:pathLst>
              </a:custGeom>
              <a:solidFill>
                <a:srgbClr val="33CC33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8" name="Arc 34">
                <a:extLst>
                  <a:ext uri="{FF2B5EF4-FFF2-40B4-BE49-F238E27FC236}">
                    <a16:creationId xmlns:a16="http://schemas.microsoft.com/office/drawing/2014/main" id="{7B726BDF-7FE9-4752-A673-144DCBA48FC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504" y="1441"/>
                <a:ext cx="677" cy="154"/>
              </a:xfrm>
              <a:custGeom>
                <a:avLst/>
                <a:gdLst>
                  <a:gd name="T0" fmla="*/ 0 w 43027"/>
                  <a:gd name="T1" fmla="*/ 0 h 27737"/>
                  <a:gd name="T2" fmla="*/ 0 w 43027"/>
                  <a:gd name="T3" fmla="*/ 0 h 27737"/>
                  <a:gd name="T4" fmla="*/ 0 w 43027"/>
                  <a:gd name="T5" fmla="*/ 0 h 27737"/>
                  <a:gd name="T6" fmla="*/ 0 60000 65536"/>
                  <a:gd name="T7" fmla="*/ 0 60000 65536"/>
                  <a:gd name="T8" fmla="*/ 0 60000 65536"/>
                  <a:gd name="T9" fmla="*/ 0 w 43027"/>
                  <a:gd name="T10" fmla="*/ 0 h 27737"/>
                  <a:gd name="T11" fmla="*/ 43027 w 43027"/>
                  <a:gd name="T12" fmla="*/ 27737 h 277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027" h="27737" fill="none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</a:path>
                  <a:path w="43027" h="27737" stroke="0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  <a:lnTo>
                      <a:pt x="21600" y="6137"/>
                    </a:lnTo>
                    <a:lnTo>
                      <a:pt x="43026" y="8865"/>
                    </a:lnTo>
                    <a:close/>
                  </a:path>
                </a:pathLst>
              </a:custGeom>
              <a:solidFill>
                <a:srgbClr val="33CC33"/>
              </a:solidFill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6" name="Line 35">
              <a:extLst>
                <a:ext uri="{FF2B5EF4-FFF2-40B4-BE49-F238E27FC236}">
                  <a16:creationId xmlns:a16="http://schemas.microsoft.com/office/drawing/2014/main" id="{0396964E-6911-4B32-882A-3306FD3BE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6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660" name="TextBox 84">
            <a:extLst>
              <a:ext uri="{FF2B5EF4-FFF2-40B4-BE49-F238E27FC236}">
                <a16:creationId xmlns:a16="http://schemas.microsoft.com/office/drawing/2014/main" id="{A208AF36-FEC6-4B94-92A5-869F37CF6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515938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>
            <a:extLst>
              <a:ext uri="{FF2B5EF4-FFF2-40B4-BE49-F238E27FC236}">
                <a16:creationId xmlns:a16="http://schemas.microsoft.com/office/drawing/2014/main" id="{C30A493F-0D39-44C3-910A-AF282ECB1664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470025" y="28575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AE801F5-F40C-4EFE-9574-1497369A4BD5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470025" y="371475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6BCE929-67E9-4C0E-ABCB-14179D9BABA5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470025" y="4572000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ED687F0F-E061-4A0F-A625-616B1779A67D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533400"/>
            <a:ext cx="8077200" cy="935038"/>
            <a:chOff x="384" y="396"/>
            <a:chExt cx="5088" cy="589"/>
          </a:xfrm>
        </p:grpSpPr>
        <p:sp>
          <p:nvSpPr>
            <p:cNvPr id="29708" name="Text Box 5">
              <a:extLst>
                <a:ext uri="{FF2B5EF4-FFF2-40B4-BE49-F238E27FC236}">
                  <a16:creationId xmlns:a16="http://schemas.microsoft.com/office/drawing/2014/main" id="{353F1392-C167-4100-B247-092E8160B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528"/>
              <a:ext cx="508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1" lang="en-US" altLang="zh-CN" sz="26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1" lang="en-US" altLang="zh-CN" sz="2600" b="1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求                                            的定义域．</a:t>
              </a:r>
            </a:p>
          </p:txBody>
        </p:sp>
        <p:graphicFrame>
          <p:nvGraphicFramePr>
            <p:cNvPr id="29709" name="Object 2">
              <a:extLst>
                <a:ext uri="{FF2B5EF4-FFF2-40B4-BE49-F238E27FC236}">
                  <a16:creationId xmlns:a16="http://schemas.microsoft.com/office/drawing/2014/main" id="{CD15EBBD-9017-4702-914A-568B9BA124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6" y="396"/>
            <a:ext cx="2550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533868" imgH="1028700" progId="Equation.DSMT4">
                    <p:embed/>
                  </p:oleObj>
                </mc:Choice>
                <mc:Fallback>
                  <p:oleObj name="Equation" r:id="rId7" imgW="4533868" imgH="1028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6" y="396"/>
                          <a:ext cx="2550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02" name="TextBox 11">
            <a:extLst>
              <a:ext uri="{FF2B5EF4-FFF2-40B4-BE49-F238E27FC236}">
                <a16:creationId xmlns:a16="http://schemas.microsoft.com/office/drawing/2014/main" id="{4534C8BB-B3FA-447E-A0AB-B8AA873F4B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8" y="708025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53484EC1-BA82-455F-AB92-1211DAD1F0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1960563"/>
          <a:ext cx="52974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76500" imgH="228600" progId="Equation.DSMT4">
                  <p:embed/>
                </p:oleObj>
              </mc:Choice>
              <mc:Fallback>
                <p:oleObj name="Equation" r:id="rId9" imgW="2476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960563"/>
                        <a:ext cx="52974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>
            <a:extLst>
              <a:ext uri="{FF2B5EF4-FFF2-40B4-BE49-F238E27FC236}">
                <a16:creationId xmlns:a16="http://schemas.microsoft.com/office/drawing/2014/main" id="{7EDDDA38-A631-435F-B6FF-5EFD1EBAF9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2941638"/>
          <a:ext cx="52974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476500" imgH="228600" progId="Equation.3">
                  <p:embed/>
                </p:oleObj>
              </mc:Choice>
              <mc:Fallback>
                <p:oleObj name="公式" r:id="rId11" imgW="24765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2941638"/>
                        <a:ext cx="52974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>
            <a:extLst>
              <a:ext uri="{FF2B5EF4-FFF2-40B4-BE49-F238E27FC236}">
                <a16:creationId xmlns:a16="http://schemas.microsoft.com/office/drawing/2014/main" id="{3B6747D6-A41C-4C63-A886-7F4300C0EA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3125" y="3727450"/>
          <a:ext cx="52974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476500" imgH="228600" progId="Equation.3">
                  <p:embed/>
                </p:oleObj>
              </mc:Choice>
              <mc:Fallback>
                <p:oleObj name="公式" r:id="rId13" imgW="24765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727450"/>
                        <a:ext cx="52974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BC0698BC-D97C-41D6-A14A-7F2AA8C27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3438" y="4597400"/>
          <a:ext cx="532288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2489200" imgH="228600" progId="Equation.3">
                  <p:embed/>
                </p:oleObj>
              </mc:Choice>
              <mc:Fallback>
                <p:oleObj name="公式" r:id="rId15" imgW="24892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4597400"/>
                        <a:ext cx="532288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椭圆 20">
            <a:extLst>
              <a:ext uri="{FF2B5EF4-FFF2-40B4-BE49-F238E27FC236}">
                <a16:creationId xmlns:a16="http://schemas.microsoft.com/office/drawing/2014/main" id="{234D155D-EA07-4399-8F16-D710880AF116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492250" y="19478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4">
            <a:extLst>
              <a:ext uri="{FF2B5EF4-FFF2-40B4-BE49-F238E27FC236}">
                <a16:creationId xmlns:a16="http://schemas.microsoft.com/office/drawing/2014/main" id="{CDAEE101-39B8-4EE1-A9A4-36DFA0180704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404813"/>
            <a:ext cx="8077200" cy="935037"/>
            <a:chOff x="384" y="410"/>
            <a:chExt cx="5088" cy="589"/>
          </a:xfrm>
        </p:grpSpPr>
        <p:sp>
          <p:nvSpPr>
            <p:cNvPr id="30746" name="Text Box 5">
              <a:extLst>
                <a:ext uri="{FF2B5EF4-FFF2-40B4-BE49-F238E27FC236}">
                  <a16:creationId xmlns:a16="http://schemas.microsoft.com/office/drawing/2014/main" id="{39FD6D6A-623C-4FE8-8CD3-DB8131B0C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528"/>
              <a:ext cx="5088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6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1" lang="en-US" altLang="zh-CN" sz="2600" b="1">
                  <a:solidFill>
                    <a:schemeClr val="hlink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1" lang="en-US" altLang="zh-CN" sz="2600" b="1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求                                             的定义域．</a:t>
              </a:r>
            </a:p>
          </p:txBody>
        </p:sp>
        <p:graphicFrame>
          <p:nvGraphicFramePr>
            <p:cNvPr id="30747" name="Object 6">
              <a:extLst>
                <a:ext uri="{FF2B5EF4-FFF2-40B4-BE49-F238E27FC236}">
                  <a16:creationId xmlns:a16="http://schemas.microsoft.com/office/drawing/2014/main" id="{FE95F74E-A1C4-4664-9984-F662AAC468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12" y="410"/>
            <a:ext cx="2550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533868" imgH="1028700" progId="Equation.DSMT4">
                    <p:embed/>
                  </p:oleObj>
                </mc:Choice>
                <mc:Fallback>
                  <p:oleObj name="Equation" r:id="rId2" imgW="4533868" imgH="10287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2" y="410"/>
                          <a:ext cx="2550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455" name="Text Box 7">
            <a:extLst>
              <a:ext uri="{FF2B5EF4-FFF2-40B4-BE49-F238E27FC236}">
                <a16:creationId xmlns:a16="http://schemas.microsoft.com/office/drawing/2014/main" id="{1D4E3274-20C1-4EED-8624-8E402E2AF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050" y="1717675"/>
            <a:ext cx="6858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</a:p>
        </p:txBody>
      </p:sp>
      <p:graphicFrame>
        <p:nvGraphicFramePr>
          <p:cNvPr id="104456" name="Object 8">
            <a:extLst>
              <a:ext uri="{FF2B5EF4-FFF2-40B4-BE49-F238E27FC236}">
                <a16:creationId xmlns:a16="http://schemas.microsoft.com/office/drawing/2014/main" id="{4E5E4175-6CF9-4BD3-B630-C4073376E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1806575"/>
          <a:ext cx="23876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87600" imgH="1155700" progId="Equation.3">
                  <p:embed/>
                </p:oleObj>
              </mc:Choice>
              <mc:Fallback>
                <p:oleObj name="Equation" r:id="rId4" imgW="2387600" imgH="1155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0900" y="1806575"/>
                        <a:ext cx="23876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>
            <a:extLst>
              <a:ext uri="{FF2B5EF4-FFF2-40B4-BE49-F238E27FC236}">
                <a16:creationId xmlns:a16="http://schemas.microsoft.com/office/drawing/2014/main" id="{E15BF6CB-E104-40A3-94C2-DABBF240E0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5488" y="1809750"/>
          <a:ext cx="25273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27300" imgH="1143000" progId="Equation.3">
                  <p:embed/>
                </p:oleObj>
              </mc:Choice>
              <mc:Fallback>
                <p:oleObj name="公式" r:id="rId6" imgW="2527300" imgH="1143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5488" y="1809750"/>
                        <a:ext cx="25273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>
            <a:extLst>
              <a:ext uri="{FF2B5EF4-FFF2-40B4-BE49-F238E27FC236}">
                <a16:creationId xmlns:a16="http://schemas.microsoft.com/office/drawing/2014/main" id="{59B7122C-E4A0-47AF-85D4-BF6B1743F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0300" y="2098675"/>
          <a:ext cx="6477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35" imgH="253890" progId="Equation.3">
                  <p:embed/>
                </p:oleObj>
              </mc:Choice>
              <mc:Fallback>
                <p:oleObj name="Equation" r:id="rId8" imgW="380835" imgH="25389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2098675"/>
                        <a:ext cx="6477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9" name="Rectangle 11">
            <a:extLst>
              <a:ext uri="{FF2B5EF4-FFF2-40B4-BE49-F238E27FC236}">
                <a16:creationId xmlns:a16="http://schemas.microsoft.com/office/drawing/2014/main" id="{DF600CA4-D8D5-495C-9164-F40B513D0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3178175"/>
            <a:ext cx="28956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600" b="1">
                <a:solidFill>
                  <a:srgbClr val="000000"/>
                </a:solidFill>
                <a:latin typeface="Times New Roman" panose="02020603050405020304" pitchFamily="18" charset="0"/>
              </a:rPr>
              <a:t>所求定义域为</a:t>
            </a:r>
          </a:p>
        </p:txBody>
      </p:sp>
      <p:graphicFrame>
        <p:nvGraphicFramePr>
          <p:cNvPr id="104460" name="Object 12">
            <a:extLst>
              <a:ext uri="{FF2B5EF4-FFF2-40B4-BE49-F238E27FC236}">
                <a16:creationId xmlns:a16="http://schemas.microsoft.com/office/drawing/2014/main" id="{482FDF2A-2AD7-433B-B61E-A3ACADA32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5175" y="3898900"/>
          <a:ext cx="53609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359400" imgH="469900" progId="Equation.3">
                  <p:embed/>
                </p:oleObj>
              </mc:Choice>
              <mc:Fallback>
                <p:oleObj name="公式" r:id="rId10" imgW="5359400" imgH="469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3898900"/>
                        <a:ext cx="53609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1" name="Oval 13">
            <a:extLst>
              <a:ext uri="{FF2B5EF4-FFF2-40B4-BE49-F238E27FC236}">
                <a16:creationId xmlns:a16="http://schemas.microsoft.com/office/drawing/2014/main" id="{D5950533-DA5A-4AAC-A0D9-CB533543F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321175"/>
            <a:ext cx="1146175" cy="1146175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104462" name="Oval 14">
            <a:extLst>
              <a:ext uri="{FF2B5EF4-FFF2-40B4-BE49-F238E27FC236}">
                <a16:creationId xmlns:a16="http://schemas.microsoft.com/office/drawing/2014/main" id="{E89C1267-BAF2-40D9-9A75-813200B1F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5363" y="3792538"/>
            <a:ext cx="2203450" cy="22034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4358E119-6240-4CA6-9F49-8104A9585B80}"/>
              </a:ext>
            </a:extLst>
          </p:cNvPr>
          <p:cNvGrpSpPr>
            <a:grpSpLocks/>
          </p:cNvGrpSpPr>
          <p:nvPr/>
        </p:nvGrpSpPr>
        <p:grpSpPr bwMode="auto">
          <a:xfrm>
            <a:off x="8443913" y="4030663"/>
            <a:ext cx="1371600" cy="1695450"/>
            <a:chOff x="2636" y="1814"/>
            <a:chExt cx="864" cy="1068"/>
          </a:xfrm>
        </p:grpSpPr>
        <p:sp>
          <p:nvSpPr>
            <p:cNvPr id="30744" name="Freeform 16">
              <a:extLst>
                <a:ext uri="{FF2B5EF4-FFF2-40B4-BE49-F238E27FC236}">
                  <a16:creationId xmlns:a16="http://schemas.microsoft.com/office/drawing/2014/main" id="{4EF48A3F-6A7F-4DFE-B367-0CA9DD209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1814"/>
              <a:ext cx="799" cy="543"/>
            </a:xfrm>
            <a:custGeom>
              <a:avLst/>
              <a:gdLst>
                <a:gd name="T0" fmla="*/ 0 w 653"/>
                <a:gd name="T1" fmla="*/ 3393 h 443"/>
                <a:gd name="T2" fmla="*/ 636 w 653"/>
                <a:gd name="T3" fmla="*/ 2136 h 443"/>
                <a:gd name="T4" fmla="*/ 2316 w 653"/>
                <a:gd name="T5" fmla="*/ 897 h 443"/>
                <a:gd name="T6" fmla="*/ 4043 w 653"/>
                <a:gd name="T7" fmla="*/ 253 h 443"/>
                <a:gd name="T8" fmla="*/ 4918 w 653"/>
                <a:gd name="T9" fmla="*/ 0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3"/>
                <a:gd name="T16" fmla="*/ 0 h 443"/>
                <a:gd name="T17" fmla="*/ 653 w 653"/>
                <a:gd name="T18" fmla="*/ 443 h 4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3" h="443">
                  <a:moveTo>
                    <a:pt x="0" y="443"/>
                  </a:moveTo>
                  <a:cubicBezTo>
                    <a:pt x="14" y="413"/>
                    <a:pt x="34" y="333"/>
                    <a:pt x="85" y="279"/>
                  </a:cubicBezTo>
                  <a:cubicBezTo>
                    <a:pt x="136" y="225"/>
                    <a:pt x="233" y="158"/>
                    <a:pt x="308" y="117"/>
                  </a:cubicBezTo>
                  <a:cubicBezTo>
                    <a:pt x="383" y="76"/>
                    <a:pt x="480" y="53"/>
                    <a:pt x="538" y="33"/>
                  </a:cubicBezTo>
                  <a:cubicBezTo>
                    <a:pt x="596" y="13"/>
                    <a:pt x="629" y="7"/>
                    <a:pt x="653" y="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Freeform 17">
              <a:extLst>
                <a:ext uri="{FF2B5EF4-FFF2-40B4-BE49-F238E27FC236}">
                  <a16:creationId xmlns:a16="http://schemas.microsoft.com/office/drawing/2014/main" id="{A12BACD6-D273-4558-A615-5CD7E0ACB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357"/>
              <a:ext cx="864" cy="525"/>
            </a:xfrm>
            <a:custGeom>
              <a:avLst/>
              <a:gdLst>
                <a:gd name="T0" fmla="*/ 0 w 706"/>
                <a:gd name="T1" fmla="*/ 0 h 429"/>
                <a:gd name="T2" fmla="*/ 851 w 706"/>
                <a:gd name="T3" fmla="*/ 1484 h 429"/>
                <a:gd name="T4" fmla="*/ 2536 w 706"/>
                <a:gd name="T5" fmla="*/ 2563 h 429"/>
                <a:gd name="T6" fmla="*/ 4267 w 706"/>
                <a:gd name="T7" fmla="*/ 3127 h 429"/>
                <a:gd name="T8" fmla="*/ 5321 w 706"/>
                <a:gd name="T9" fmla="*/ 3174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6"/>
                <a:gd name="T16" fmla="*/ 0 h 429"/>
                <a:gd name="T17" fmla="*/ 706 w 706"/>
                <a:gd name="T18" fmla="*/ 429 h 4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6" h="429">
                  <a:moveTo>
                    <a:pt x="0" y="0"/>
                  </a:moveTo>
                  <a:cubicBezTo>
                    <a:pt x="22" y="32"/>
                    <a:pt x="57" y="140"/>
                    <a:pt x="113" y="197"/>
                  </a:cubicBezTo>
                  <a:cubicBezTo>
                    <a:pt x="169" y="254"/>
                    <a:pt x="261" y="304"/>
                    <a:pt x="336" y="340"/>
                  </a:cubicBezTo>
                  <a:cubicBezTo>
                    <a:pt x="411" y="377"/>
                    <a:pt x="504" y="401"/>
                    <a:pt x="566" y="415"/>
                  </a:cubicBezTo>
                  <a:cubicBezTo>
                    <a:pt x="628" y="429"/>
                    <a:pt x="677" y="421"/>
                    <a:pt x="706" y="422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AD7013A7-AF88-483C-8E41-9899A2837C37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3284538"/>
            <a:ext cx="3529013" cy="2951162"/>
            <a:chOff x="1701" y="1344"/>
            <a:chExt cx="2223" cy="1859"/>
          </a:xfrm>
        </p:grpSpPr>
        <p:sp>
          <p:nvSpPr>
            <p:cNvPr id="30739" name="Line 19">
              <a:extLst>
                <a:ext uri="{FF2B5EF4-FFF2-40B4-BE49-F238E27FC236}">
                  <a16:creationId xmlns:a16="http://schemas.microsoft.com/office/drawing/2014/main" id="{1AEF3FC5-0973-4ADB-8600-DE56D4EAA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2369"/>
              <a:ext cx="222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20">
              <a:extLst>
                <a:ext uri="{FF2B5EF4-FFF2-40B4-BE49-F238E27FC236}">
                  <a16:creationId xmlns:a16="http://schemas.microsoft.com/office/drawing/2014/main" id="{25A1EE6A-748E-449C-9149-1EBA3F727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5" y="1370"/>
              <a:ext cx="0" cy="183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41" name="Object 21">
              <a:extLst>
                <a:ext uri="{FF2B5EF4-FFF2-40B4-BE49-F238E27FC236}">
                  <a16:creationId xmlns:a16="http://schemas.microsoft.com/office/drawing/2014/main" id="{EEC42BF8-44C3-4A8E-9345-49E6E8A5EE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6" y="2480"/>
            <a:ext cx="209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700" imgH="139700" progId="Equation.DSMT4">
                    <p:embed/>
                  </p:oleObj>
                </mc:Choice>
                <mc:Fallback>
                  <p:oleObj name="Equation" r:id="rId12" imgW="139700" imgH="1397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6" y="2480"/>
                          <a:ext cx="209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2" name="Object 22">
              <a:extLst>
                <a:ext uri="{FF2B5EF4-FFF2-40B4-BE49-F238E27FC236}">
                  <a16:creationId xmlns:a16="http://schemas.microsoft.com/office/drawing/2014/main" id="{80F10418-7ECC-4231-8736-0F13879499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75" y="1344"/>
            <a:ext cx="20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39579" imgH="164957" progId="Equation.DSMT4">
                    <p:embed/>
                  </p:oleObj>
                </mc:Choice>
                <mc:Fallback>
                  <p:oleObj name="Equation" r:id="rId14" imgW="139579" imgH="164957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5" y="1344"/>
                          <a:ext cx="20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23">
              <a:extLst>
                <a:ext uri="{FF2B5EF4-FFF2-40B4-BE49-F238E27FC236}">
                  <a16:creationId xmlns:a16="http://schemas.microsoft.com/office/drawing/2014/main" id="{95D0D425-8907-4B9C-B3EB-0810C7F385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5" y="2406"/>
            <a:ext cx="248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4814" imgH="177492" progId="Equation.DSMT4">
                    <p:embed/>
                  </p:oleObj>
                </mc:Choice>
                <mc:Fallback>
                  <p:oleObj name="Equation" r:id="rId16" imgW="164814" imgH="177492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5" y="2406"/>
                          <a:ext cx="248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A3D3438E-8CC2-48C3-A05D-6CA587B42550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4217988"/>
            <a:ext cx="612775" cy="1343025"/>
            <a:chOff x="1255" y="2982"/>
            <a:chExt cx="315" cy="691"/>
          </a:xfrm>
        </p:grpSpPr>
        <p:sp>
          <p:nvSpPr>
            <p:cNvPr id="30734" name="Line 25">
              <a:extLst>
                <a:ext uri="{FF2B5EF4-FFF2-40B4-BE49-F238E27FC236}">
                  <a16:creationId xmlns:a16="http://schemas.microsoft.com/office/drawing/2014/main" id="{1D0A6C14-CE0C-4ED0-AEAE-425858162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5" y="2982"/>
              <a:ext cx="136" cy="1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26">
              <a:extLst>
                <a:ext uri="{FF2B5EF4-FFF2-40B4-BE49-F238E27FC236}">
                  <a16:creationId xmlns:a16="http://schemas.microsoft.com/office/drawing/2014/main" id="{66802D17-CAC1-4874-A27E-C684649112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14" y="3022"/>
              <a:ext cx="174" cy="2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27">
              <a:extLst>
                <a:ext uri="{FF2B5EF4-FFF2-40B4-BE49-F238E27FC236}">
                  <a16:creationId xmlns:a16="http://schemas.microsoft.com/office/drawing/2014/main" id="{46601A99-D43D-401B-A30C-54D35806E7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02" y="3113"/>
              <a:ext cx="239" cy="31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28">
              <a:extLst>
                <a:ext uri="{FF2B5EF4-FFF2-40B4-BE49-F238E27FC236}">
                  <a16:creationId xmlns:a16="http://schemas.microsoft.com/office/drawing/2014/main" id="{8F52D148-ECC8-4B0F-9EA6-5F0321EBFF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2" y="3249"/>
              <a:ext cx="278" cy="37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29">
              <a:extLst>
                <a:ext uri="{FF2B5EF4-FFF2-40B4-BE49-F238E27FC236}">
                  <a16:creationId xmlns:a16="http://schemas.microsoft.com/office/drawing/2014/main" id="{8964F676-9B2D-48A7-ADD6-7303D81EB1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3" y="3441"/>
              <a:ext cx="174" cy="23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10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10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 autoUpdateAnimBg="0"/>
      <p:bldP spid="104459" grpId="0" autoUpdateAnimBg="0"/>
      <p:bldP spid="104461" grpId="0" animBg="1"/>
      <p:bldP spid="10446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>
            <a:extLst>
              <a:ext uri="{FF2B5EF4-FFF2-40B4-BE49-F238E27FC236}">
                <a16:creationId xmlns:a16="http://schemas.microsoft.com/office/drawing/2014/main" id="{82D3933B-E043-4640-A8A9-67B67FE75AF3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1470025" y="301942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620C4A3-7D1A-4B25-95EE-0C232C85BF2D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470025" y="387667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A77C2FD-3DC6-4B5A-9821-8525E2F5BF1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470025" y="4733925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aphicFrame>
        <p:nvGraphicFramePr>
          <p:cNvPr id="31749" name="Object 4">
            <a:extLst>
              <a:ext uri="{FF2B5EF4-FFF2-40B4-BE49-F238E27FC236}">
                <a16:creationId xmlns:a16="http://schemas.microsoft.com/office/drawing/2014/main" id="{3A540EC7-176F-4D22-9557-C7733A33EF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685800"/>
          <a:ext cx="71945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822700" imgH="330200" progId="Equation.3">
                  <p:embed/>
                </p:oleObj>
              </mc:Choice>
              <mc:Fallback>
                <p:oleObj name="公式" r:id="rId7" imgW="38227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685800"/>
                        <a:ext cx="719455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Box 72">
            <a:extLst>
              <a:ext uri="{FF2B5EF4-FFF2-40B4-BE49-F238E27FC236}">
                <a16:creationId xmlns:a16="http://schemas.microsoft.com/office/drawing/2014/main" id="{BE962C18-A258-4076-A12C-6D24C3F05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8" y="784225"/>
            <a:ext cx="1219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B05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思考</a:t>
            </a:r>
          </a:p>
        </p:txBody>
      </p:sp>
      <p:graphicFrame>
        <p:nvGraphicFramePr>
          <p:cNvPr id="21" name="Object 64">
            <a:extLst>
              <a:ext uri="{FF2B5EF4-FFF2-40B4-BE49-F238E27FC236}">
                <a16:creationId xmlns:a16="http://schemas.microsoft.com/office/drawing/2014/main" id="{05ED28BE-E9F3-4BF9-BB46-38094AC100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6638" y="2144713"/>
          <a:ext cx="6192837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600" imgH="228600" progId="Equation.DSMT4">
                  <p:embed/>
                </p:oleObj>
              </mc:Choice>
              <mc:Fallback>
                <p:oleObj name="Equation" r:id="rId9" imgW="2895600" imgH="22860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2144713"/>
                        <a:ext cx="6192837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8">
            <a:extLst>
              <a:ext uri="{FF2B5EF4-FFF2-40B4-BE49-F238E27FC236}">
                <a16:creationId xmlns:a16="http://schemas.microsoft.com/office/drawing/2014/main" id="{EBCA9A51-7B01-4183-A847-EC4F08CDA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6638" y="3032125"/>
          <a:ext cx="66278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098800" imgH="228600" progId="Equation.3">
                  <p:embed/>
                </p:oleObj>
              </mc:Choice>
              <mc:Fallback>
                <p:oleObj name="公式" r:id="rId11" imgW="3098800" imgH="22860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8" y="3032125"/>
                        <a:ext cx="66278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9">
            <a:extLst>
              <a:ext uri="{FF2B5EF4-FFF2-40B4-BE49-F238E27FC236}">
                <a16:creationId xmlns:a16="http://schemas.microsoft.com/office/drawing/2014/main" id="{ADA2518E-89BF-437E-BC39-37534962B2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0" y="3876675"/>
          <a:ext cx="62198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908300" imgH="228600" progId="Equation.3">
                  <p:embed/>
                </p:oleObj>
              </mc:Choice>
              <mc:Fallback>
                <p:oleObj name="公式" r:id="rId13" imgW="2908300" imgH="2286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3876675"/>
                        <a:ext cx="62198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0">
            <a:extLst>
              <a:ext uri="{FF2B5EF4-FFF2-40B4-BE49-F238E27FC236}">
                <a16:creationId xmlns:a16="http://schemas.microsoft.com/office/drawing/2014/main" id="{5A66293F-37E8-409B-9695-FCBBAB33A9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4795838"/>
          <a:ext cx="66262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098800" imgH="228600" progId="Equation.DSMT4">
                  <p:embed/>
                </p:oleObj>
              </mc:Choice>
              <mc:Fallback>
                <p:oleObj name="Equation" r:id="rId15" imgW="3098800" imgH="2286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4795838"/>
                        <a:ext cx="662622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椭圆 18">
            <a:extLst>
              <a:ext uri="{FF2B5EF4-FFF2-40B4-BE49-F238E27FC236}">
                <a16:creationId xmlns:a16="http://schemas.microsoft.com/office/drawing/2014/main" id="{0E27812C-5D71-4202-AAD8-7721A8C85B75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470025" y="211931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474" name="Object 2">
            <a:extLst>
              <a:ext uri="{FF2B5EF4-FFF2-40B4-BE49-F238E27FC236}">
                <a16:creationId xmlns:a16="http://schemas.microsoft.com/office/drawing/2014/main" id="{65173C68-88E7-4054-9990-3965DEB1B3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3813" y="3016250"/>
          <a:ext cx="3970337" cy="292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5934903" imgH="4552381" progId="Paint.Picture">
                  <p:embed/>
                </p:oleObj>
              </mc:Choice>
              <mc:Fallback>
                <p:oleObj name="BMP 图象" r:id="rId2" imgW="5934903" imgH="455238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3813" y="3016250"/>
                        <a:ext cx="3970337" cy="292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9653B006-7A5E-4F4C-A952-DCD7959DCACD}"/>
              </a:ext>
            </a:extLst>
          </p:cNvPr>
          <p:cNvGrpSpPr>
            <a:grpSpLocks/>
          </p:cNvGrpSpPr>
          <p:nvPr/>
        </p:nvGrpSpPr>
        <p:grpSpPr bwMode="auto">
          <a:xfrm>
            <a:off x="1130300" y="3124200"/>
            <a:ext cx="3959225" cy="2244725"/>
            <a:chOff x="1800" y="5652"/>
            <a:chExt cx="5100" cy="2449"/>
          </a:xfrm>
        </p:grpSpPr>
        <p:grpSp>
          <p:nvGrpSpPr>
            <p:cNvPr id="32782" name="Group 4">
              <a:extLst>
                <a:ext uri="{FF2B5EF4-FFF2-40B4-BE49-F238E27FC236}">
                  <a16:creationId xmlns:a16="http://schemas.microsoft.com/office/drawing/2014/main" id="{2F2D0D97-DC2F-49DD-8416-2750AD9AB5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0" y="5836"/>
              <a:ext cx="2655" cy="2265"/>
              <a:chOff x="1800" y="5836"/>
              <a:chExt cx="2655" cy="2265"/>
            </a:xfrm>
          </p:grpSpPr>
          <p:pic>
            <p:nvPicPr>
              <p:cNvPr id="32794" name="Picture 5" descr="untitled14">
                <a:extLst>
                  <a:ext uri="{FF2B5EF4-FFF2-40B4-BE49-F238E27FC236}">
                    <a16:creationId xmlns:a16="http://schemas.microsoft.com/office/drawing/2014/main" id="{80323339-D4A0-4557-9323-EF61CEF54E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000" t="4662" r="4031" b="26961"/>
              <a:stretch>
                <a:fillRect/>
              </a:stretch>
            </p:blipFill>
            <p:spPr bwMode="auto">
              <a:xfrm>
                <a:off x="1800" y="5836"/>
                <a:ext cx="2655" cy="2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795" name="Freeform 6">
                <a:extLst>
                  <a:ext uri="{FF2B5EF4-FFF2-40B4-BE49-F238E27FC236}">
                    <a16:creationId xmlns:a16="http://schemas.microsoft.com/office/drawing/2014/main" id="{DB63E06C-A0CF-4668-9D54-67C26A4FA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6167"/>
                <a:ext cx="1845" cy="1393"/>
              </a:xfrm>
              <a:custGeom>
                <a:avLst/>
                <a:gdLst>
                  <a:gd name="T0" fmla="*/ 0 w 1845"/>
                  <a:gd name="T1" fmla="*/ 133 h 1393"/>
                  <a:gd name="T2" fmla="*/ 1365 w 1845"/>
                  <a:gd name="T3" fmla="*/ 253 h 1393"/>
                  <a:gd name="T4" fmla="*/ 1590 w 1845"/>
                  <a:gd name="T5" fmla="*/ 373 h 1393"/>
                  <a:gd name="T6" fmla="*/ 1710 w 1845"/>
                  <a:gd name="T7" fmla="*/ 493 h 1393"/>
                  <a:gd name="T8" fmla="*/ 1740 w 1845"/>
                  <a:gd name="T9" fmla="*/ 538 h 1393"/>
                  <a:gd name="T10" fmla="*/ 1815 w 1845"/>
                  <a:gd name="T11" fmla="*/ 613 h 1393"/>
                  <a:gd name="T12" fmla="*/ 1845 w 1845"/>
                  <a:gd name="T13" fmla="*/ 703 h 1393"/>
                  <a:gd name="T14" fmla="*/ 1830 w 1845"/>
                  <a:gd name="T15" fmla="*/ 1093 h 1393"/>
                  <a:gd name="T16" fmla="*/ 1770 w 1845"/>
                  <a:gd name="T17" fmla="*/ 1228 h 1393"/>
                  <a:gd name="T18" fmla="*/ 1680 w 1845"/>
                  <a:gd name="T19" fmla="*/ 1393 h 139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845"/>
                  <a:gd name="T31" fmla="*/ 0 h 1393"/>
                  <a:gd name="T32" fmla="*/ 1845 w 1845"/>
                  <a:gd name="T33" fmla="*/ 1393 h 139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845" h="1393">
                    <a:moveTo>
                      <a:pt x="0" y="133"/>
                    </a:moveTo>
                    <a:cubicBezTo>
                      <a:pt x="399" y="0"/>
                      <a:pt x="952" y="115"/>
                      <a:pt x="1365" y="253"/>
                    </a:cubicBezTo>
                    <a:cubicBezTo>
                      <a:pt x="1445" y="280"/>
                      <a:pt x="1508" y="346"/>
                      <a:pt x="1590" y="373"/>
                    </a:cubicBezTo>
                    <a:cubicBezTo>
                      <a:pt x="1633" y="416"/>
                      <a:pt x="1659" y="459"/>
                      <a:pt x="1710" y="493"/>
                    </a:cubicBezTo>
                    <a:cubicBezTo>
                      <a:pt x="1720" y="508"/>
                      <a:pt x="1727" y="525"/>
                      <a:pt x="1740" y="538"/>
                    </a:cubicBezTo>
                    <a:cubicBezTo>
                      <a:pt x="1792" y="590"/>
                      <a:pt x="1783" y="541"/>
                      <a:pt x="1815" y="613"/>
                    </a:cubicBezTo>
                    <a:cubicBezTo>
                      <a:pt x="1828" y="642"/>
                      <a:pt x="1845" y="703"/>
                      <a:pt x="1845" y="703"/>
                    </a:cubicBezTo>
                    <a:cubicBezTo>
                      <a:pt x="1840" y="833"/>
                      <a:pt x="1839" y="963"/>
                      <a:pt x="1830" y="1093"/>
                    </a:cubicBezTo>
                    <a:cubicBezTo>
                      <a:pt x="1827" y="1142"/>
                      <a:pt x="1784" y="1181"/>
                      <a:pt x="1770" y="1228"/>
                    </a:cubicBezTo>
                    <a:cubicBezTo>
                      <a:pt x="1751" y="1294"/>
                      <a:pt x="1747" y="1360"/>
                      <a:pt x="1680" y="1393"/>
                    </a:cubicBezTo>
                  </a:path>
                </a:pathLst>
              </a:custGeom>
              <a:noFill/>
              <a:ln w="1651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32783" name="Picture 7" descr="untitled15">
              <a:extLst>
                <a:ext uri="{FF2B5EF4-FFF2-40B4-BE49-F238E27FC236}">
                  <a16:creationId xmlns:a16="http://schemas.microsoft.com/office/drawing/2014/main" id="{4D2CC450-A11A-49C8-8857-58137711A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32" t="49638" r="11969" b="32378"/>
            <a:stretch>
              <a:fillRect/>
            </a:stretch>
          </p:blipFill>
          <p:spPr bwMode="auto">
            <a:xfrm>
              <a:off x="4680" y="7212"/>
              <a:ext cx="2205" cy="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784" name="Group 8">
              <a:extLst>
                <a:ext uri="{FF2B5EF4-FFF2-40B4-BE49-F238E27FC236}">
                  <a16:creationId xmlns:a16="http://schemas.microsoft.com/office/drawing/2014/main" id="{A23F7111-715A-4EC9-8F56-61DBF890B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0" y="6902"/>
              <a:ext cx="1441" cy="468"/>
              <a:chOff x="3780" y="6902"/>
              <a:chExt cx="1441" cy="468"/>
            </a:xfrm>
          </p:grpSpPr>
          <p:sp>
            <p:nvSpPr>
              <p:cNvPr id="32792" name="Arc 9">
                <a:extLst>
                  <a:ext uri="{FF2B5EF4-FFF2-40B4-BE49-F238E27FC236}">
                    <a16:creationId xmlns:a16="http://schemas.microsoft.com/office/drawing/2014/main" id="{80B73065-E501-43D6-938F-0A47AF72AE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0" y="6902"/>
                <a:ext cx="1265" cy="468"/>
              </a:xfrm>
              <a:custGeom>
                <a:avLst/>
                <a:gdLst>
                  <a:gd name="T0" fmla="*/ 0 w 18971"/>
                  <a:gd name="T1" fmla="*/ 0 h 21600"/>
                  <a:gd name="T2" fmla="*/ 0 w 18971"/>
                  <a:gd name="T3" fmla="*/ 0 h 21600"/>
                  <a:gd name="T4" fmla="*/ 0 w 1897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971"/>
                  <a:gd name="T10" fmla="*/ 0 h 21600"/>
                  <a:gd name="T11" fmla="*/ 18971 w 1897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71" h="21600" fill="none" extrusionOk="0">
                    <a:moveTo>
                      <a:pt x="-1" y="0"/>
                    </a:moveTo>
                    <a:cubicBezTo>
                      <a:pt x="7910" y="0"/>
                      <a:pt x="15188" y="4324"/>
                      <a:pt x="18971" y="11272"/>
                    </a:cubicBezTo>
                  </a:path>
                  <a:path w="18971" h="21600" stroke="0" extrusionOk="0">
                    <a:moveTo>
                      <a:pt x="-1" y="0"/>
                    </a:moveTo>
                    <a:cubicBezTo>
                      <a:pt x="7910" y="0"/>
                      <a:pt x="15188" y="4324"/>
                      <a:pt x="18971" y="11272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651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3" name="Line 10">
                <a:extLst>
                  <a:ext uri="{FF2B5EF4-FFF2-40B4-BE49-F238E27FC236}">
                    <a16:creationId xmlns:a16="http://schemas.microsoft.com/office/drawing/2014/main" id="{64960FA3-B806-4760-BAD9-4256D5135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7134"/>
                <a:ext cx="181" cy="155"/>
              </a:xfrm>
              <a:prstGeom prst="line">
                <a:avLst/>
              </a:prstGeom>
              <a:noFill/>
              <a:ln w="16510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2785" name="Object 11">
              <a:extLst>
                <a:ext uri="{FF2B5EF4-FFF2-40B4-BE49-F238E27FC236}">
                  <a16:creationId xmlns:a16="http://schemas.microsoft.com/office/drawing/2014/main" id="{6B854A88-6B86-4C63-90F1-C223732401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20" y="5652"/>
            <a:ext cx="264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579" imgH="164957" progId="Equation.DSMT4">
                    <p:embed/>
                  </p:oleObj>
                </mc:Choice>
                <mc:Fallback>
                  <p:oleObj name="Equation" r:id="rId6" imgW="139579" imgH="16495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0" y="5652"/>
                          <a:ext cx="264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6" name="Object 12">
              <a:extLst>
                <a:ext uri="{FF2B5EF4-FFF2-40B4-BE49-F238E27FC236}">
                  <a16:creationId xmlns:a16="http://schemas.microsoft.com/office/drawing/2014/main" id="{6183BFC9-9777-431E-B6EB-C6EC6D5B8E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7680"/>
            <a:ext cx="24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835" imgH="139518" progId="Equation.DSMT4">
                    <p:embed/>
                  </p:oleObj>
                </mc:Choice>
                <mc:Fallback>
                  <p:oleObj name="Equation" r:id="rId8" imgW="126835" imgH="139518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7680"/>
                          <a:ext cx="24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7" name="Object 13">
              <a:extLst>
                <a:ext uri="{FF2B5EF4-FFF2-40B4-BE49-F238E27FC236}">
                  <a16:creationId xmlns:a16="http://schemas.microsoft.com/office/drawing/2014/main" id="{90CAC1F1-AA3D-4015-A54B-A628DB9954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40" y="7524"/>
            <a:ext cx="24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835" imgH="139518" progId="Equation.DSMT4">
                    <p:embed/>
                  </p:oleObj>
                </mc:Choice>
                <mc:Fallback>
                  <p:oleObj name="Equation" r:id="rId10" imgW="126835" imgH="139518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0" y="7524"/>
                          <a:ext cx="24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8" name="Object 14">
              <a:extLst>
                <a:ext uri="{FF2B5EF4-FFF2-40B4-BE49-F238E27FC236}">
                  <a16:creationId xmlns:a16="http://schemas.microsoft.com/office/drawing/2014/main" id="{2BA79537-E825-4A0B-9D36-21B78B1152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0" y="7524"/>
            <a:ext cx="24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26835" imgH="139518" progId="Equation.DSMT4">
                    <p:embed/>
                  </p:oleObj>
                </mc:Choice>
                <mc:Fallback>
                  <p:oleObj name="Equation" r:id="rId10" imgW="126835" imgH="139518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7524"/>
                          <a:ext cx="24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9" name="Object 15">
              <a:extLst>
                <a:ext uri="{FF2B5EF4-FFF2-40B4-BE49-F238E27FC236}">
                  <a16:creationId xmlns:a16="http://schemas.microsoft.com/office/drawing/2014/main" id="{C21301B0-0377-4E2F-B1E1-D455AACD8B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80" y="6900"/>
            <a:ext cx="288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164957" progId="Equation.DSMT4">
                    <p:embed/>
                  </p:oleObj>
                </mc:Choice>
                <mc:Fallback>
                  <p:oleObj name="Equation" r:id="rId13" imgW="152268" imgH="164957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80" y="6900"/>
                          <a:ext cx="288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0" name="Object 16">
              <a:extLst>
                <a:ext uri="{FF2B5EF4-FFF2-40B4-BE49-F238E27FC236}">
                  <a16:creationId xmlns:a16="http://schemas.microsoft.com/office/drawing/2014/main" id="{EA56E636-D793-4C7D-93C3-D00F09C314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60" y="7524"/>
            <a:ext cx="24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5" imgH="126725" progId="Equation.DSMT4">
                    <p:embed/>
                  </p:oleObj>
                </mc:Choice>
                <mc:Fallback>
                  <p:oleObj name="Equation" r:id="rId15" imgW="126725" imgH="12672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" y="7524"/>
                          <a:ext cx="240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91" name="Object 17">
              <a:extLst>
                <a:ext uri="{FF2B5EF4-FFF2-40B4-BE49-F238E27FC236}">
                  <a16:creationId xmlns:a16="http://schemas.microsoft.com/office/drawing/2014/main" id="{FFF52356-BFFA-4C76-A58B-0C5E007590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77" y="6591"/>
            <a:ext cx="261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64885" imgH="164885" progId="Equation.DSMT4">
                    <p:embed/>
                  </p:oleObj>
                </mc:Choice>
                <mc:Fallback>
                  <p:oleObj name="Equation" r:id="rId17" imgW="164885" imgH="16488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7" y="6591"/>
                          <a:ext cx="261" cy="2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3B09E762-7330-40A6-A00D-7B7090AB7B51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954088"/>
            <a:ext cx="12192000" cy="1052512"/>
            <a:chOff x="385" y="287"/>
            <a:chExt cx="4944" cy="663"/>
          </a:xfrm>
        </p:grpSpPr>
        <p:sp>
          <p:nvSpPr>
            <p:cNvPr id="32780" name="Text Box 19">
              <a:extLst>
                <a:ext uri="{FF2B5EF4-FFF2-40B4-BE49-F238E27FC236}">
                  <a16:creationId xmlns:a16="http://schemas.microsoft.com/office/drawing/2014/main" id="{19D84CA6-C839-475A-9FE2-04E783549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87"/>
              <a:ext cx="4944" cy="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</a:pPr>
              <a:r>
                <a:rPr kumimoji="1" lang="en-US" altLang="zh-CN" sz="2600" b="1">
                  <a:solidFill>
                    <a:schemeClr val="bg2"/>
                  </a:solidFill>
                  <a:latin typeface="楷体_GB2312" pitchFamily="49" charset="-122"/>
                  <a:ea typeface="楷体_GB2312" pitchFamily="49" charset="-122"/>
                </a:rPr>
                <a:t>   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二元函数                                 是</a:t>
              </a:r>
              <a:r>
                <a:rPr kumimoji="1" lang="en-US" altLang="zh-CN" sz="2600" b="1" i="1">
                  <a:latin typeface="楷体_GB2312" pitchFamily="49" charset="-122"/>
                  <a:ea typeface="楷体_GB2312" pitchFamily="49" charset="-122"/>
                </a:rPr>
                <a:t>R </a:t>
              </a:r>
              <a:r>
                <a:rPr kumimoji="1" lang="en-US" altLang="zh-CN" sz="2600" b="1" baseline="30000">
                  <a:latin typeface="楷体_GB2312" pitchFamily="49" charset="-122"/>
                  <a:ea typeface="楷体_GB2312" pitchFamily="49" charset="-122"/>
                </a:rPr>
                <a:t>2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中的点集</a:t>
              </a:r>
              <a:r>
                <a:rPr kumimoji="1" lang="en-US" altLang="zh-CN" sz="2600" b="1" i="1">
                  <a:latin typeface="楷体_GB2312" pitchFamily="49" charset="-122"/>
                  <a:ea typeface="楷体_GB2312" pitchFamily="49" charset="-122"/>
                </a:rPr>
                <a:t>D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到实数集</a:t>
              </a:r>
              <a:r>
                <a:rPr kumimoji="1" lang="en-US" altLang="zh-CN" sz="2600" b="1" i="1">
                  <a:latin typeface="楷体_GB2312" pitchFamily="49" charset="-122"/>
                  <a:ea typeface="楷体_GB2312" pitchFamily="49" charset="-122"/>
                </a:rPr>
                <a:t>R </a:t>
              </a:r>
              <a:r>
                <a:rPr kumimoji="1" lang="zh-CN" altLang="en-US" sz="2600" b="1">
                  <a:latin typeface="楷体_GB2312" pitchFamily="49" charset="-122"/>
                  <a:ea typeface="楷体_GB2312" pitchFamily="49" charset="-122"/>
                </a:rPr>
                <a:t>的一个映射．</a:t>
              </a:r>
            </a:p>
          </p:txBody>
        </p:sp>
        <p:graphicFrame>
          <p:nvGraphicFramePr>
            <p:cNvPr id="32781" name="Object 20">
              <a:extLst>
                <a:ext uri="{FF2B5EF4-FFF2-40B4-BE49-F238E27FC236}">
                  <a16:creationId xmlns:a16="http://schemas.microsoft.com/office/drawing/2014/main" id="{145BD601-F846-41CD-967F-E5030118B5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3" y="321"/>
            <a:ext cx="131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473200" imgH="203200" progId="Equation.DSMT4">
                    <p:embed/>
                  </p:oleObj>
                </mc:Choice>
                <mc:Fallback>
                  <p:oleObj name="Equation" r:id="rId19" imgW="1473200" imgH="203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3" y="321"/>
                          <a:ext cx="131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3" name="Rectangle 22">
            <a:extLst>
              <a:ext uri="{FF2B5EF4-FFF2-40B4-BE49-F238E27FC236}">
                <a16:creationId xmlns:a16="http://schemas.microsoft.com/office/drawing/2014/main" id="{A995DD24-2346-4939-9A2F-163E00981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1525" y="47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105495" name="Object 23">
            <a:extLst>
              <a:ext uri="{FF2B5EF4-FFF2-40B4-BE49-F238E27FC236}">
                <a16:creationId xmlns:a16="http://schemas.microsoft.com/office/drawing/2014/main" id="{668637F0-5FE7-4B3B-BE58-0E6399205E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931988"/>
          <a:ext cx="51435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5143500" imgH="406400" progId="Equation.DSMT4">
                  <p:embed/>
                </p:oleObj>
              </mc:Choice>
              <mc:Fallback>
                <p:oleObj name="Equation" r:id="rId21" imgW="5143500" imgH="4064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31988"/>
                        <a:ext cx="51435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96" name="Text Box 24">
            <a:extLst>
              <a:ext uri="{FF2B5EF4-FFF2-40B4-BE49-F238E27FC236}">
                <a16:creationId xmlns:a16="http://schemas.microsoft.com/office/drawing/2014/main" id="{10AC2F3B-6DEE-4F83-9C5E-EF32EA8F7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892300"/>
            <a:ext cx="4895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latin typeface="楷体_GB2312" pitchFamily="49" charset="-122"/>
                <a:ea typeface="楷体_GB2312" pitchFamily="49" charset="-122"/>
              </a:rPr>
              <a:t>这个点集称为二元函数的图形</a:t>
            </a:r>
            <a:r>
              <a:rPr kumimoji="1" lang="en-US" altLang="zh-CN" sz="26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2776" name="Text Box 25">
            <a:extLst>
              <a:ext uri="{FF2B5EF4-FFF2-40B4-BE49-F238E27FC236}">
                <a16:creationId xmlns:a16="http://schemas.microsoft.com/office/drawing/2014/main" id="{1DE17BA4-BE9D-4560-98C2-D354F8BC2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063" y="16827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1" lang="zh-CN" altLang="en-US" sz="2800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二元函数的图形</a:t>
            </a: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04C98A72-6845-4B4C-B5C8-195ACEFA9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792788"/>
            <a:ext cx="48958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latin typeface="楷体_GB2312" pitchFamily="49" charset="-122"/>
                <a:ea typeface="楷体_GB2312" pitchFamily="49" charset="-122"/>
              </a:rPr>
              <a:t>此图形在</a:t>
            </a:r>
            <a:r>
              <a:rPr kumimoji="1" lang="en-US" altLang="zh-CN" sz="2600" b="1">
                <a:latin typeface="楷体_GB2312" pitchFamily="49" charset="-122"/>
                <a:ea typeface="楷体_GB2312" pitchFamily="49" charset="-122"/>
              </a:rPr>
              <a:t>xoy</a:t>
            </a:r>
            <a:r>
              <a:rPr kumimoji="1" lang="zh-CN" altLang="en-US" sz="2600" b="1">
                <a:latin typeface="楷体_GB2312" pitchFamily="49" charset="-122"/>
                <a:ea typeface="楷体_GB2312" pitchFamily="49" charset="-122"/>
              </a:rPr>
              <a:t>面上的投影即为</a:t>
            </a:r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BE283AD2-C709-42E1-A9F7-563E58B380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6318250"/>
          <a:ext cx="16764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93777" imgH="209377" progId="Equation.DSMT4">
                  <p:embed/>
                </p:oleObj>
              </mc:Choice>
              <mc:Fallback>
                <p:oleObj name="Equation" r:id="rId23" imgW="793777" imgH="20937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6318250"/>
                        <a:ext cx="16764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">
            <a:extLst>
              <a:ext uri="{FF2B5EF4-FFF2-40B4-BE49-F238E27FC236}">
                <a16:creationId xmlns:a16="http://schemas.microsoft.com/office/drawing/2014/main" id="{1C550827-BED5-4836-B972-307F28FF0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6281738"/>
            <a:ext cx="1789113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600" b="1">
                <a:latin typeface="楷体_GB2312" pitchFamily="49" charset="-122"/>
                <a:ea typeface="楷体_GB2312" pitchFamily="49" charset="-122"/>
              </a:rPr>
              <a:t>的定义域。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96" grpId="0"/>
      <p:bldP spid="26" grpId="0"/>
      <p:bldP spid="2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3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0&quot;],&quot;CaseSensitive&quot;:false,&quot;FuzzyMatch&quot;:false}]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</TotalTime>
  <Words>929</Words>
  <Application>Microsoft Office PowerPoint</Application>
  <PresentationFormat>宽屏</PresentationFormat>
  <Paragraphs>165</Paragraphs>
  <Slides>24</Slides>
  <Notes>6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华文琥珀</vt:lpstr>
      <vt:lpstr>华文行楷</vt:lpstr>
      <vt:lpstr>楷体_GB2312</vt:lpstr>
      <vt:lpstr>宋体</vt:lpstr>
      <vt:lpstr>Microsoft Yahei</vt:lpstr>
      <vt:lpstr>Arial</vt:lpstr>
      <vt:lpstr>Times New Roman</vt:lpstr>
      <vt:lpstr>默认设计模板</vt:lpstr>
      <vt:lpstr>Equation</vt:lpstr>
      <vt:lpstr>公式</vt:lpstr>
      <vt:lpstr>BMP 图象</vt:lpstr>
      <vt:lpstr>PowerPoint 演示文稿</vt:lpstr>
      <vt:lpstr>第五章 </vt:lpstr>
      <vt:lpstr>PowerPoint 演示文稿</vt:lpstr>
      <vt:lpstr>第一节</vt:lpstr>
      <vt:lpstr>一、 邻域，区域</vt:lpstr>
      <vt:lpstr>PowerPoint 演示文稿</vt:lpstr>
      <vt:lpstr>2. 区域</vt:lpstr>
      <vt:lpstr>PowerPoint 演示文稿</vt:lpstr>
      <vt:lpstr>(2) 聚点</vt:lpstr>
      <vt:lpstr>PowerPoint 演示文稿</vt:lpstr>
      <vt:lpstr>(3)  开区域及闭区域</vt:lpstr>
      <vt:lpstr>PowerPoint 演示文稿</vt:lpstr>
      <vt:lpstr>例如，在平面上</vt:lpstr>
      <vt:lpstr>PowerPoint 演示文稿</vt:lpstr>
      <vt:lpstr>(4)  有界域及无界域</vt:lpstr>
      <vt:lpstr>PowerPoint 演示文稿</vt:lpstr>
      <vt:lpstr>*3.  n 维空间</vt:lpstr>
      <vt:lpstr>PowerPoint 演示文稿</vt:lpstr>
      <vt:lpstr>二、多元函数的概念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</dc:creator>
  <cp:lastModifiedBy>玥儿 小</cp:lastModifiedBy>
  <cp:revision>59</cp:revision>
  <cp:lastPrinted>1601-01-01T00:00:00Z</cp:lastPrinted>
  <dcterms:created xsi:type="dcterms:W3CDTF">1601-01-01T00:00:00Z</dcterms:created>
  <dcterms:modified xsi:type="dcterms:W3CDTF">2025-02-23T12:21:16Z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